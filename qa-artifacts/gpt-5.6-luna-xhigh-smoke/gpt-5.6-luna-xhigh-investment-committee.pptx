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Stress test · 포트폴리오 기대 순가치(₩M)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spPr>
            <a:solidFill>
              <a:srgbClr val="932F15"/>
            </a:solidFill>
          </c:spPr>
          <c:idx val="0"/>
          <c:order val="0"/>
          <c:tx>
            <c:strRef>
              <c:f>Sheet1!$B$1</c:f>
              <c:strCache>
                <c:ptCount val="1"/>
                <c:pt idx="0">
                  <c:v>기대 순가치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-618.12</c:v>
                </c:pt>
                <c:pt idx="1">
                  <c:v>23.85</c:v>
                </c:pt>
                <c:pt idx="2">
                  <c:v>608.22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400050"/>
            <a:ext cx="10668000" cy="495300"/>
          </a:xfrm>
        </p:spPr>
        <p:txBody>
          <a:bodyPr wrap="square" rtlCol="0"/>
          <a:lstStyle/>
          <a:p>
            <a:r>
              <a:rPr sz="2600" b="1">
                <a:solidFill>
                  <a:srgbClr val="F4F8FB"/>
                </a:solidFill>
              </a:rPr>
              <a:t>결론: 10개 투자안을 모두 집행해도 Base 기대 순가치는 ₩23.85M에 그친다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962025"/>
            <a:ext cx="10668000" cy="238125"/>
          </a:xfrm>
        </p:spPr>
        <p:txBody>
          <a:bodyPr wrap="square" rtlCol="0"/>
          <a:lstStyle/>
          <a:p>
            <a:r>
              <a:rPr sz="1200">
                <a:solidFill>
                  <a:srgbClr val="9FB0C0"/>
                </a:solidFill>
              </a:rPr>
              <a:t>12개월 기준 · 단위: ₩M · Portfolio 원자료 재계산 · Scenarios driver 적용 · Dashboard 구조 대조</a:t>
            </a:r>
          </a:p>
        </p:txBody>
      </p:sp>
      <p:sp>
        <p:nvSpPr>
          <p:cNvPr id="4" name="Shape 4"/>
          <p:cNvSpPr/>
          <p:nvPr/>
        </p:nvSpPr>
        <p:spPr>
          <a:xfrm>
            <a:off x="762000" y="1314450"/>
            <a:ext cx="10668000" cy="38100"/>
          </a:xfrm>
          <a:prstGeom prst="rect">
            <a:avLst/>
          </a:prstGeom>
          <a:solidFill>
            <a:srgbClr val="3BE6C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/>
          <p:cNvSpPr/>
          <p:nvPr/>
        </p:nvSpPr>
        <p:spPr>
          <a:xfrm>
            <a:off x="762000" y="1714500"/>
            <a:ext cx="3333750" cy="16192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TOTAL 12개월 투입</a:t>
            </a:r>
          </a:p>
          <a:p>
            <a:r>
              <a:rPr sz="2400" b="1">
                <a:solidFill>
                  <a:srgbClr val="F4F8FB"/>
                </a:solidFill>
              </a:rPr>
              <a:t>₩1,152M</a:t>
            </a:r>
          </a:p>
          <a:p>
            <a:r>
              <a:rPr sz="1200">
                <a:solidFill>
                  <a:srgbClr val="B7C7D6"/>
                </a:solidFill>
              </a:rPr>
              <a:t>초기개발비 ₩480M · 12개월 운영비 ₩672M</a:t>
            </a:r>
          </a:p>
        </p:txBody>
      </p:sp>
      <p:sp>
        <p:nvSpPr>
          <p:cNvPr id="6" name="Shape 6"/>
          <p:cNvSpPr/>
          <p:nvPr/>
        </p:nvSpPr>
        <p:spPr>
          <a:xfrm>
            <a:off x="4429125" y="1714500"/>
            <a:ext cx="3333750" cy="16192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EXPECTED ARR</a:t>
            </a:r>
          </a:p>
          <a:p>
            <a:r>
              <a:rPr sz="2400" b="1">
                <a:solidFill>
                  <a:srgbClr val="F4F8FB"/>
                </a:solidFill>
              </a:rPr>
              <a:t>₩1,175.85M</a:t>
            </a:r>
          </a:p>
          <a:p>
            <a:r>
              <a:rPr sz="1200">
                <a:solidFill>
                  <a:srgbClr val="B7C7D6"/>
                </a:solidFill>
              </a:rPr>
              <a:t>ARR × 성공확률 · 10개 이니셔티브 합산</a:t>
            </a:r>
          </a:p>
        </p:txBody>
      </p:sp>
      <p:sp>
        <p:nvSpPr>
          <p:cNvPr id="7" name="Shape 7"/>
          <p:cNvSpPr/>
          <p:nvPr/>
        </p:nvSpPr>
        <p:spPr>
          <a:xfrm>
            <a:off x="8096250" y="1714500"/>
            <a:ext cx="3333750" cy="16192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BASE 기대 순이익(순가치)</a:t>
            </a:r>
          </a:p>
          <a:p>
            <a:r>
              <a:rPr sz="2400" b="1">
                <a:solidFill>
                  <a:srgbClr val="F4F8FB"/>
                </a:solidFill>
              </a:rPr>
              <a:t>₩23.85M</a:t>
            </a:r>
          </a:p>
          <a:p>
            <a:r>
              <a:rPr sz="1200">
                <a:solidFill>
                  <a:srgbClr val="B7C7D6"/>
                </a:solidFill>
              </a:rPr>
              <a:t>비용 대비 2.1% ROI · 조건부 집행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3695700"/>
            <a:ext cx="10668000" cy="228600"/>
          </a:xfrm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DECISION FRAME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2000" y="4000500"/>
            <a:ext cx="10668000" cy="1428750"/>
          </a:xfrm>
        </p:spPr>
        <p:txBody>
          <a:bodyPr wrap="square" rtlCol="0"/>
          <a:lstStyle/>
          <a:p>
            <a:r>
              <a:rPr sz="1300">
                <a:solidFill>
                  <a:srgbClr val="B7C7D6"/>
                </a:solidFill>
              </a:rPr>
              <a:t>가중 평균 성공확률 60.3%(ARR 가중) · 가중 이탈률은 워크북에 기재되지 않아 산출 불가</a:t>
            </a:r>
          </a:p>
          <a:p>
            <a:r>
              <a:rPr sz="1800" b="1">
                <a:solidFill>
                  <a:srgbClr val="F4F8FB"/>
                </a:solidFill>
              </a:rPr>
              <a:t>한 줄 결론  Base는 손익분기 바로 위다. 이탈률 데이터 입력 전 확정 승인보다 상위 3개 90일 검증이 우선이다.</a:t>
            </a:r>
          </a:p>
          <a:p>
            <a:r>
              <a:rPr sz="1300">
                <a:solidFill>
                  <a:srgbClr val="FFCC66"/>
                </a:solidFill>
              </a:rPr>
              <a:t>의사결정 포인트  전체 일괄 집행 보류 · API/CRM/HR 우선 · Downside 기대 순가치 −₩618.12M 대비 단계적 집행</a:t>
            </a:r>
          </a:p>
          <a:p>
            <a:r>
              <a:rPr sz="1100">
                <a:solidFill>
                  <a:srgbClr val="9FB0C0"/>
                </a:solidFill>
              </a:rPr>
              <a:t>산식: 기대 ARR = ARR × 성공확률; 12개월 기대 순가치 = 기대 ARR − 초기개발비 − 12 × 월운영비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6553200"/>
            <a:ext cx="10668000" cy="171450"/>
          </a:xfrm>
        </p:spPr>
        <p:txBody>
          <a:bodyPr wrap="square" rtlCol="0"/>
          <a:lstStyle/>
          <a:p>
            <a:r>
              <a:rPr sz="900">
                <a:solidFill>
                  <a:srgbClr val="71879A"/>
                </a:solidFill>
              </a:rPr>
              <a:t>Source: Luna xhigh portfolio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400050"/>
            <a:ext cx="10668000" cy="495300"/>
          </a:xfrm>
        </p:spPr>
        <p:txBody>
          <a:bodyPr wrap="square" rtlCol="0"/>
          <a:lstStyle/>
          <a:p>
            <a:r>
              <a:rPr sz="2600" b="1">
                <a:solidFill>
                  <a:srgbClr val="F4F8FB"/>
                </a:solidFill>
              </a:rPr>
              <a:t>결론: Upside는 크지만, 우선순위 3개가 Base 손익을 방어한다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962025"/>
            <a:ext cx="10668000" cy="238125"/>
          </a:xfrm>
        </p:spPr>
        <p:txBody>
          <a:bodyPr wrap="square" rtlCol="0"/>
          <a:lstStyle/>
          <a:p>
            <a:r>
              <a:rPr sz="1200">
                <a:solidFill>
                  <a:srgbClr val="9FB0C0"/>
                </a:solidFill>
              </a:rPr>
              <a:t>Base 기대 순가치·리스크 점수 기준 우선순위 · 시나리오 가정은 Scenarios 시트의 ARR/확률/비용 배수 사용</a:t>
            </a:r>
          </a:p>
        </p:txBody>
      </p:sp>
      <p:sp>
        <p:nvSpPr>
          <p:cNvPr id="4" name="Shape 4"/>
          <p:cNvSpPr/>
          <p:nvPr/>
        </p:nvSpPr>
        <p:spPr>
          <a:xfrm>
            <a:off x="762000" y="1314450"/>
            <a:ext cx="10668000" cy="38100"/>
          </a:xfrm>
          <a:prstGeom prst="rect">
            <a:avLst/>
          </a:prstGeom>
          <a:solidFill>
            <a:srgbClr val="3BE6C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/>
          <p:cNvSpPr/>
          <p:nvPr/>
        </p:nvSpPr>
        <p:spPr>
          <a:xfrm>
            <a:off x="762000" y="1619250"/>
            <a:ext cx="4572000" cy="400050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TOP 3 PRIORITIES</a:t>
            </a:r>
          </a:p>
          <a:p>
            <a:r>
              <a:rPr sz="1700" b="1">
                <a:solidFill>
                  <a:srgbClr val="F4F8FB"/>
                </a:solidFill>
              </a:rPr>
              <a:t>1  API 모니터링·개발자 포털 SaaS</a:t>
            </a:r>
          </a:p>
          <a:p>
            <a:r>
              <a:rPr sz="1200">
                <a:solidFill>
                  <a:srgbClr val="B7C7D6"/>
                </a:solidFill>
              </a:rPr>
              <a:t>Base ₩25.5M  ·  성공확률 78%  ·  리스크 25</a:t>
            </a:r>
          </a:p>
          <a:p>
            <a:r>
              <a:rPr sz="1700" b="1">
                <a:solidFill>
                  <a:srgbClr val="F4F8FB"/>
                </a:solidFill>
              </a:rPr>
              <a:t>2  영업 파이프라인 자동화 CRM SaaS</a:t>
            </a:r>
          </a:p>
          <a:p>
            <a:r>
              <a:rPr sz="1200">
                <a:solidFill>
                  <a:srgbClr val="B7C7D6"/>
                </a:solidFill>
              </a:rPr>
              <a:t>Base ₩18.6M  ·  성공확률 72%  ·  리스크 32</a:t>
            </a:r>
          </a:p>
          <a:p>
            <a:r>
              <a:rPr sz="1700" b="1">
                <a:solidFill>
                  <a:srgbClr val="F4F8FB"/>
                </a:solidFill>
              </a:rPr>
              <a:t>3  HR 인력계획·스킬 매칭 SaaS</a:t>
            </a:r>
          </a:p>
          <a:p>
            <a:r>
              <a:rPr sz="1200">
                <a:solidFill>
                  <a:srgbClr val="B7C7D6"/>
                </a:solidFill>
              </a:rPr>
              <a:t>Base ₩15.0M  ·  성공확률 70%  ·  리스크 30</a:t>
            </a:r>
          </a:p>
          <a:p>
            <a:r>
              <a:rPr sz="1300" b="1">
                <a:solidFill>
                  <a:srgbClr val="3BE6C6"/>
                </a:solidFill>
              </a:rPr>
              <a:t>합계  Base 기대 순가치 ₩59.1M  ·  초기개발비 ₩110M</a:t>
            </a:r>
          </a:p>
        </p:txBody>
      </p:sp>
      <p:sp>
        <p:nvSpPr>
          <p:cNvPr id="6" name="Shape 6"/>
          <p:cNvSpPr/>
          <p:nvPr/>
        </p:nvSpPr>
        <p:spPr>
          <a:xfrm>
            <a:off x="5715000" y="1619250"/>
            <a:ext cx="5715000" cy="95250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SCENARIO DRIVERS</a:t>
            </a:r>
          </a:p>
          <a:p>
            <a:r>
              <a:rPr sz="1100">
                <a:solidFill>
                  <a:srgbClr val="F4F8FB"/>
                </a:solidFill>
              </a:rPr>
              <a:t>Downside 0.8× ARR · p −15pp · 비용 1.15×  |  Base 1.0× · p 0pp · 비용 1.0×  |  Upside 1.2× ARR · p +10pp · 비용 0.9×</a:t>
            </a:r>
          </a:p>
          <a:p>
            <a:r>
              <a:rPr sz="1000">
                <a:solidFill>
                  <a:srgbClr val="9FB0C0"/>
                </a:solidFill>
              </a:rPr>
              <a:t>순가치 = ARR × 배수 × 조정 성공확률 − 12개월 총비용 × 비용 배수</a:t>
            </a:r>
          </a:p>
        </p:txBody>
      </p:sp>
      <p:sp>
        <p:nvSpPr>
          <p:cNvPr id="7" name="Shape 7"/>
          <p:cNvSpPr/>
          <p:nvPr/>
        </p:nvSpPr>
        <p:spPr>
          <a:xfrm>
            <a:off x="5715000" y="2762250"/>
            <a:ext cx="5715000" cy="323850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graphicFrame>
        <p:nvGraphicFramePr>
          <p:cNvPr id="8" name="Chart 8 - Stress test · 포트폴리오 기대 순가치(₩M)" descr="aislides-chart"/>
          <p:cNvGraphicFramePr/>
          <p:nvPr/>
        </p:nvGraphicFramePr>
        <p:xfrm>
          <a:off x="6000750" y="2952750"/>
          <a:ext cx="51435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000750" y="5676900"/>
            <a:ext cx="5143500" cy="266700"/>
          </a:xfrm>
        </p:spPr>
        <p:txBody>
          <a:bodyPr wrap="square" rtlCol="0"/>
          <a:lstStyle/>
          <a:p>
            <a:r>
              <a:rPr sz="1200">
                <a:solidFill>
                  <a:srgbClr val="FFCC66"/>
                </a:solidFill>
              </a:rPr>
              <a:t>의사결정 포인트  Base는 얇은 플러스, Downside는 −₩618.12M → 단계별 투자와 조기 중단 기준이 필수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6553200"/>
            <a:ext cx="10668000" cy="171450"/>
          </a:xfrm>
        </p:spPr>
        <p:txBody>
          <a:bodyPr wrap="square" rtlCol="0"/>
          <a:lstStyle/>
          <a:p>
            <a:r>
              <a:rPr sz="900">
                <a:solidFill>
                  <a:srgbClr val="71879A"/>
                </a:solidFill>
              </a:rPr>
              <a:t>Source: Luna xhigh portfolio workbook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400050"/>
            <a:ext cx="10668000" cy="495300"/>
          </a:xfrm>
        </p:spPr>
        <p:txBody>
          <a:bodyPr wrap="square" rtlCol="0"/>
          <a:lstStyle/>
          <a:p>
            <a:r>
              <a:rPr sz="2600" b="1">
                <a:solidFill>
                  <a:srgbClr val="F4F8FB"/>
                </a:solidFill>
              </a:rPr>
              <a:t>결론: 조건부 집행—상위 3개만 90일 검증 후 단계 확대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962025"/>
            <a:ext cx="10668000" cy="238125"/>
          </a:xfrm>
        </p:spPr>
        <p:txBody>
          <a:bodyPr wrap="square" rtlCol="0"/>
          <a:lstStyle/>
          <a:p>
            <a:r>
              <a:rPr sz="1200">
                <a:solidFill>
                  <a:srgbClr val="9FB0C0"/>
                </a:solidFill>
              </a:rPr>
              <a:t>권고 조합의 Base 기대 순가치 ₩59.1M · 고위험·음수 순가치 이니셔티브는 후순위 검증</a:t>
            </a:r>
          </a:p>
        </p:txBody>
      </p:sp>
      <p:sp>
        <p:nvSpPr>
          <p:cNvPr id="4" name="Shape 4"/>
          <p:cNvSpPr/>
          <p:nvPr/>
        </p:nvSpPr>
        <p:spPr>
          <a:xfrm>
            <a:off x="762000" y="1314450"/>
            <a:ext cx="10668000" cy="38100"/>
          </a:xfrm>
          <a:prstGeom prst="rect">
            <a:avLst/>
          </a:prstGeom>
          <a:solidFill>
            <a:srgbClr val="3BE6C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/>
          <p:cNvSpPr/>
          <p:nvPr/>
        </p:nvSpPr>
        <p:spPr>
          <a:xfrm>
            <a:off x="762000" y="1619250"/>
            <a:ext cx="4381500" cy="23812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RECOMMENDED INVESTMENT MIX</a:t>
            </a:r>
          </a:p>
          <a:p>
            <a:r>
              <a:rPr sz="2100" b="1">
                <a:solidFill>
                  <a:srgbClr val="F4F8FB"/>
                </a:solidFill>
              </a:rPr>
              <a:t>상위 3개만 우선 집행</a:t>
            </a:r>
          </a:p>
          <a:p>
            <a:r>
              <a:rPr sz="1500">
                <a:solidFill>
                  <a:srgbClr val="F4F8FB"/>
                </a:solidFill>
              </a:rPr>
              <a:t>1  API 모니터링·개발자 포털 SaaS</a:t>
            </a:r>
          </a:p>
          <a:p>
            <a:r>
              <a:rPr sz="1500">
                <a:solidFill>
                  <a:srgbClr val="F4F8FB"/>
                </a:solidFill>
              </a:rPr>
              <a:t>2  영업 파이프라인 자동화 CRM SaaS</a:t>
            </a:r>
          </a:p>
          <a:p>
            <a:r>
              <a:rPr sz="1500">
                <a:solidFill>
                  <a:srgbClr val="F4F8FB"/>
                </a:solidFill>
              </a:rPr>
              <a:t>3  HR 인력계획·스킬 매칭 SaaS</a:t>
            </a:r>
          </a:p>
          <a:p>
            <a:r>
              <a:rPr sz="1300" b="1">
                <a:solidFill>
                  <a:srgbClr val="3BE6C6"/>
                </a:solidFill>
              </a:rPr>
              <a:t>초기개발비 ₩110M  |  Base 기대 순가치 ₩59.1M</a:t>
            </a:r>
          </a:p>
        </p:txBody>
      </p:sp>
      <p:sp>
        <p:nvSpPr>
          <p:cNvPr id="6" name="Shape 6"/>
          <p:cNvSpPr/>
          <p:nvPr/>
        </p:nvSpPr>
        <p:spPr>
          <a:xfrm>
            <a:off x="5334000" y="1619250"/>
            <a:ext cx="6096000" cy="23812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TOP RISK CONCENTRATION</a:t>
            </a:r>
          </a:p>
          <a:p>
            <a:r>
              <a:rPr sz="1100">
                <a:solidFill>
                  <a:srgbClr val="9FB0C0"/>
                </a:solidFill>
              </a:rPr>
              <a:t>리스크 점수: 높을수록 위험</a:t>
            </a:r>
          </a:p>
          <a:p>
            <a:r>
              <a:rPr sz="1600">
                <a:solidFill>
                  <a:srgbClr val="F4F8FB"/>
                </a:solidFill>
              </a:rPr>
              <a:t>공급망 수요예측 SaaS  ·  68  ·  Base −₩33.0M</a:t>
            </a:r>
          </a:p>
          <a:p>
            <a:r>
              <a:rPr sz="1600">
                <a:solidFill>
                  <a:srgbClr val="F4F8FB"/>
                </a:solidFill>
              </a:rPr>
              <a:t>B2B 마케팅 어트리뷰션 SaaS  ·  60  ·  Base −₩13.4M</a:t>
            </a:r>
          </a:p>
          <a:p>
            <a:r>
              <a:rPr sz="1600">
                <a:solidFill>
                  <a:srgbClr val="F4F8FB"/>
                </a:solidFill>
              </a:rPr>
              <a:t>B2B 고객지원 AI 챗봇  ·  55  ·  Base −₩4.8M</a:t>
            </a:r>
          </a:p>
          <a:p>
            <a:r>
              <a:rPr sz="1300" b="1">
                <a:solidFill>
                  <a:srgbClr val="FFCC66"/>
                </a:solidFill>
              </a:rPr>
              <a:t>권고: 단계적 집행 + 90일 재심의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4238625"/>
            <a:ext cx="10668000" cy="228600"/>
          </a:xfrm>
        </p:spPr>
        <p:txBody>
          <a:bodyPr wrap="square" rtlCol="0"/>
          <a:lstStyle/>
          <a:p>
            <a:r>
              <a:rPr sz="1200" b="1">
                <a:solidFill>
                  <a:srgbClr val="3BE6C6"/>
                </a:solidFill>
              </a:rPr>
              <a:t>90-DAY GATES</a:t>
            </a:r>
          </a:p>
        </p:txBody>
      </p:sp>
      <p:sp>
        <p:nvSpPr>
          <p:cNvPr id="8" name="Shape 8"/>
          <p:cNvSpPr/>
          <p:nvPr/>
        </p:nvSpPr>
        <p:spPr>
          <a:xfrm>
            <a:off x="762000" y="4572000"/>
            <a:ext cx="3048000" cy="10477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2000" b="1">
                <a:solidFill>
                  <a:srgbClr val="3BE6C6"/>
                </a:solidFill>
              </a:rPr>
              <a:t>30일</a:t>
            </a:r>
          </a:p>
          <a:p>
            <a:r>
              <a:rPr sz="1500">
                <a:solidFill>
                  <a:srgbClr val="F4F8FB"/>
                </a:solidFill>
              </a:rPr>
              <a:t>고객 문제·지불의사 검증</a:t>
            </a:r>
          </a:p>
          <a:p>
            <a:r>
              <a:rPr sz="1100">
                <a:solidFill>
                  <a:srgbClr val="B7C7D6"/>
                </a:solidFill>
              </a:rPr>
              <a:t>가정·성공확률 업데이트</a:t>
            </a:r>
          </a:p>
        </p:txBody>
      </p:sp>
      <p:sp>
        <p:nvSpPr>
          <p:cNvPr id="9" name="Shape 9"/>
          <p:cNvSpPr/>
          <p:nvPr/>
        </p:nvSpPr>
        <p:spPr>
          <a:xfrm>
            <a:off x="4572000" y="4572000"/>
            <a:ext cx="3048000" cy="10477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2000" b="1">
                <a:solidFill>
                  <a:srgbClr val="3BE6C6"/>
                </a:solidFill>
              </a:rPr>
              <a:t>60일</a:t>
            </a:r>
          </a:p>
          <a:p>
            <a:r>
              <a:rPr sz="1500">
                <a:solidFill>
                  <a:srgbClr val="F4F8FB"/>
                </a:solidFill>
              </a:rPr>
              <a:t>파일럿 결과 검증</a:t>
            </a:r>
          </a:p>
          <a:p>
            <a:r>
              <a:rPr sz="1100">
                <a:solidFill>
                  <a:srgbClr val="B7C7D6"/>
                </a:solidFill>
              </a:rPr>
              <a:t>성공확률·순가치 재평가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0" y="4572000"/>
            <a:ext cx="3048000" cy="1047750"/>
          </a:xfrm>
          <a:prstGeom prst="roundRect">
            <a:avLst/>
          </a:prstGeom>
          <a:solidFill>
            <a:srgbClr val="12324B"/>
          </a:solidFill>
        </p:spPr>
        <p:txBody>
          <a:bodyPr wrap="square" rtlCol="0"/>
          <a:lstStyle/>
          <a:p>
            <a:r>
              <a:rPr sz="2000" b="1">
                <a:solidFill>
                  <a:srgbClr val="3BE6C6"/>
                </a:solidFill>
              </a:rPr>
              <a:t>90일</a:t>
            </a:r>
          </a:p>
          <a:p>
            <a:r>
              <a:rPr sz="1500">
                <a:solidFill>
                  <a:srgbClr val="F4F8FB"/>
                </a:solidFill>
              </a:rPr>
              <a:t>Scale / Stop 재심의</a:t>
            </a:r>
          </a:p>
          <a:p>
            <a:r>
              <a:rPr sz="1100">
                <a:solidFill>
                  <a:srgbClr val="B7C7D6"/>
                </a:solidFill>
              </a:rPr>
              <a:t>Base 순가치·리스크 기준 확정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5857875"/>
            <a:ext cx="10668000" cy="361950"/>
          </a:xfrm>
        </p:spPr>
        <p:txBody>
          <a:bodyPr wrap="square" rtlCol="0"/>
          <a:lstStyle/>
          <a:p>
            <a:r>
              <a:rPr sz="1300" b="1">
                <a:solidFill>
                  <a:srgbClr val="FFCC66"/>
                </a:solidFill>
              </a:rPr>
              <a:t>중단 기준(제안)  Base 기대 순가치가 음수로 남거나 핵심 리스크 완화 증거가 없으면 다음 단계 집행을 중단한다.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6553200"/>
            <a:ext cx="10668000" cy="171450"/>
          </a:xfrm>
        </p:spPr>
        <p:txBody>
          <a:bodyPr wrap="square" rtlCol="0"/>
          <a:lstStyle/>
          <a:p>
            <a:r>
              <a:rPr sz="900">
                <a:solidFill>
                  <a:srgbClr val="71879A"/>
                </a:solidFill>
              </a:rPr>
              <a:t>Source: Luna xhigh portfolio workbook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