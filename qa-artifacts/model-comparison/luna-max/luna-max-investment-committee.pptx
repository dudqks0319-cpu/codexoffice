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e74ec7df744426" /><Relationship Type="http://schemas.openxmlformats.org/officeDocument/2006/relationships/extended-properties" Target="/docProps/app.xml" Id="Rcbe7ee7c54fd49be" /><Relationship Type="http://schemas.openxmlformats.org/officeDocument/2006/relationships/officeDocument" Target="/ppt/presentation.xml" Id="R59b666914b404e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c3d8676f714b32"/>
  </p:sldMasterIdLst>
  <p:notesMasterIdLst>
    <p:notesMasterId xmlns:r="http://schemas.openxmlformats.org/officeDocument/2006/relationships" r:id="Rc3669d065d4c4b98"/>
  </p:notesMasterIdLst>
  <p:sldIdLst>
    <p:sldId xmlns:r="http://schemas.openxmlformats.org/officeDocument/2006/relationships" id="256" r:id="R0c619eff23cd4ae0"/>
    <p:sldId xmlns:r="http://schemas.openxmlformats.org/officeDocument/2006/relationships" id="257" r:id="R6017ffffc1c44f16"/>
    <p:sldId xmlns:r="http://schemas.openxmlformats.org/officeDocument/2006/relationships" id="258" r:id="R1580f3e1f4da4f6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96f4de8e9741b7" /><Relationship Type="http://schemas.openxmlformats.org/officeDocument/2006/relationships/slideMaster" Target="/ppt/slideMasters/slideMaster1.xml" Id="Rc3c3d8676f714b32" /><Relationship Type="http://schemas.openxmlformats.org/officeDocument/2006/relationships/notesMaster" Target="/ppt/notesMasters/notesMaster1.xml" Id="Rc3669d065d4c4b98" /><Relationship Type="http://schemas.openxmlformats.org/officeDocument/2006/relationships/presProps" Target="/ppt/presProps.xml" Id="R7881980877284a27" /><Relationship Type="http://schemas.openxmlformats.org/officeDocument/2006/relationships/tableStyles" Target="/ppt/tableStyles.xml" Id="R5a080a4324d948bb" /><Relationship Type="http://schemas.openxmlformats.org/officeDocument/2006/relationships/slide" Target="/ppt/slides/slide1.xml" Id="R0c619eff23cd4ae0" /><Relationship Type="http://schemas.openxmlformats.org/officeDocument/2006/relationships/slide" Target="/ppt/slides/slide2.xml" Id="R6017ffffc1c44f16" /><Relationship Type="http://schemas.openxmlformats.org/officeDocument/2006/relationships/slide" Target="/ppt/slides/slide3.xml" Id="R1580f3e1f4da4f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30e3d26dd240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ac3ed7fb6f40c0" /><Relationship Type="http://schemas.openxmlformats.org/officeDocument/2006/relationships/notesMaster" Target="/ppt/notesMasters/notesMaster1.xml" Id="R793d1e2f63c746f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cc8f9ee6dc4c58" /><Relationship Type="http://schemas.openxmlformats.org/officeDocument/2006/relationships/notesMaster" Target="/ppt/notesMasters/notesMaster1.xml" Id="Rbd871c202b704c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d63556a0aa4f8f" /><Relationship Type="http://schemas.openxmlformats.org/officeDocument/2006/relationships/notesMaster" Target="/ppt/notesMasters/notesMaster1.xml" Id="R444ede9ef7f847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Reference: gpt-5.6-luna-xhigh-saas-portfolio.xlsx</a:t>
            </a:r>
          </a:p>
          <a:p xmlns:a="http://schemas.openxmlformats.org/drawingml/2006/main">
            <a:r>
              <a:t>- Derived values: Portfolio!A8:L17, Scenarios!B20:D20, Dashboard!A4:H10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Reference: gpt-5.6-luna-xhigh-saas-portfolio.xlsx</a:t>
            </a:r>
          </a:p>
          <a:p xmlns:a="http://schemas.openxmlformats.org/drawingml/2006/main">
            <a:r>
              <a:t>- Derived values: Portfolio!A8:L17, Scenarios!B20:D20, Dashboard!A4:H10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Reference: gpt-5.6-luna-xhigh-saas-portfolio.xlsx</a:t>
            </a:r>
          </a:p>
          <a:p xmlns:a="http://schemas.openxmlformats.org/drawingml/2006/main">
            <a:r>
              <a:t>- Derived values: Portfolio!A8:L17, Scenarios!B20:D20, Dashboard!A4:H10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96002490b847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91196595184e4d" /><Relationship Type="http://schemas.openxmlformats.org/officeDocument/2006/relationships/slideLayout" Target="/ppt/slideLayouts/slideLayout1.xml" Id="R946376689d5d47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6376689d5d47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d70f4f23ba4b56" /><Relationship Type="http://schemas.openxmlformats.org/officeDocument/2006/relationships/notesSlide" Target="/ppt/notesSlides/notesSlide1.xml" Id="R4fa68c2ffa5d4c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c9df30050d4e83" /><Relationship Type="http://schemas.openxmlformats.org/officeDocument/2006/relationships/chart" Target="/ppt/slides/charts/chart1.xml" Id="R91292f3807414463" /><Relationship Type="http://schemas.openxmlformats.org/officeDocument/2006/relationships/notesSlide" Target="/ppt/notesSlides/notesSlide2.xml" Id="R0a28c2db2ac341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46a74fb8824781" /><Relationship Type="http://schemas.openxmlformats.org/officeDocument/2006/relationships/notesSlide" Target="/ppt/notesSlides/notesSlide3.xml" Id="R22b4225b588a490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순가치</c:v>
          </c:tx>
          <c:spPr>
            <a:solidFill xmlns:a="http://schemas.openxmlformats.org/drawingml/2006/main">
              <a:srgbClr val="62E7C5"/>
            </a:solidFill>
          </c:spPr>
          <c:invertIfNegative val="0"/>
          <c:cat>
            <c:strLit>
              <c:ptCount val="3"/>
              <c:pt idx="0">
                <c:v>Downside</c:v>
              </c:pt>
              <c:pt idx="1">
                <c:v>Base</c:v>
              </c:pt>
              <c:pt idx="2">
                <c:v>Upside</c:v>
              </c:pt>
            </c:strLit>
          </c:cat>
          <c:val>
            <c:numLit>
              <c:formatCode>General</c:formatCode>
              <c:ptCount val="3"/>
              <c:pt idx="0">
                <c:v>-618.12</c:v>
              </c:pt>
              <c:pt idx="1">
                <c:v>23.849999999999984</c:v>
              </c:pt>
              <c:pt idx="2">
                <c:v>608.22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700"/>
          <c:min val="-7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B516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">
            <a:extLst xmlns:a="http://schemas.openxmlformats.org/drawingml/2006/main">
              <a:ext uri="{FF2B5EF4-FFF2-40B4-BE49-F238E27FC236}">
                <a16:creationId xmlns:a16="http://schemas.microsoft.com/office/drawing/2014/main" id="{602B4727-206F-406C-8252-4D6BD59E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E7C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62E7C5"/>
                </a:solidFill>
                <a:latin typeface="Nanum Gothic"/>
                <a:ea typeface="Nanum Gothic"/>
                <a:cs typeface="Nanum Gothic"/>
              </a:rPr>
              <a:t>INVESTMENT COMMITTEE · G5.6 LUNA-MAX</a:t>
            </a:r>
          </a:p>
        </p:txBody>
      </p:sp>
      <p:sp>
        <p:nvSpPr>
          <p:cNvPr id="2" name="top-rule">
            <a:extLst xmlns:a="http://schemas.openxmlformats.org/drawingml/2006/main">
              <a:ext uri="{FF2B5EF4-FFF2-40B4-BE49-F238E27FC236}">
                <a16:creationId xmlns:a16="http://schemas.microsoft.com/office/drawing/2014/main" id="{AA99834D-4647-45C6-9FA1-F7C2F7C4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E7C5"/>
          </a:solidFill>
          <a:ln xmlns:a="http://schemas.openxmlformats.org/drawingml/2006/main" w="0">
            <a:solidFill>
              <a:srgbClr val="62E7C5"/>
            </a:solidFill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A87E831-751B-49B5-859A-43C2AAC9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BFA"/>
                </a:solidFill>
                <a:latin typeface="Nanum Gothic"/>
                <a:ea typeface="Nanum Gothic"/>
                <a:cs typeface="Nanum Gothic"/>
              </a:defRPr>
            </a:pPr>
            <a:r>
              <a:rPr sz="2700" b="1">
                <a:solidFill>
                  <a:srgbClr val="F7FBFA"/>
                </a:solidFill>
                <a:latin typeface="Nanum Gothic"/>
                <a:ea typeface="Nanum Gothic"/>
                <a:cs typeface="Nanum Gothic"/>
              </a:rPr>
              <a:t>조건부 GO: Base는 양수지만 Downside 방어가 필요합니다.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70A60DDC-62C1-4A06-9FC6-197881B71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112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A8C4C7"/>
                </a:solidFill>
                <a:latin typeface="Nanum Gothic"/>
                <a:ea typeface="Nanum Gothic"/>
                <a:cs typeface="Nanum Gothic"/>
              </a:defRPr>
            </a:pPr>
            <a:r>
              <a:rPr sz="1350">
                <a:solidFill>
                  <a:srgbClr val="A8C4C7"/>
                </a:solidFill>
                <a:latin typeface="Nanum Gothic"/>
                <a:ea typeface="Nanum Gothic"/>
                <a:cs typeface="Nanum Gothic"/>
              </a:rPr>
              <a:t>Executive decision frame · 10개 B2B SaaS 투자안의 12개월 모델 결과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412F85F-B85F-4DE5-B23B-5A4CE2C9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A8C4C7"/>
                </a:solidFill>
                <a:latin typeface="Nanum Gothic"/>
                <a:ea typeface="Nanum Gothic"/>
                <a:cs typeface="Nanum Gothic"/>
              </a:defRPr>
            </a:pPr>
            <a:r>
              <a:rPr sz="1200">
                <a:solidFill>
                  <a:srgbClr val="A8C4C7"/>
                </a:solidFill>
                <a:latin typeface="Nanum Gothic"/>
                <a:ea typeface="Nanum Gothic"/>
                <a:cs typeface="Nanum Gothic"/>
              </a:rPr>
              <a:t>Source: model comparison portfolio workbook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864C2528-A247-49E6-B201-9F52B192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4367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metric-strip">
            <a:extLst xmlns:a="http://schemas.openxmlformats.org/drawingml/2006/main">
              <a:ext uri="{FF2B5EF4-FFF2-40B4-BE49-F238E27FC236}">
                <a16:creationId xmlns:a16="http://schemas.microsoft.com/office/drawing/2014/main" id="{62631E7E-510A-49C9-ADC7-BF333FE4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43100"/>
            <a:ext cx="111252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0D2A45"/>
          </a:solidFill>
          <a:ln xmlns:a="http://schemas.openxmlformats.org/drawingml/2006/main" w="9525">
            <a:solidFill>
              <a:srgbClr val="2B516B"/>
            </a:solidFill>
            <a:prstDash val="solid"/>
          </a:ln>
        </p:spPr>
      </p:sp>
      <p:sp>
        <p:nvSpPr>
          <p:cNvPr id="8" name="총 투자액-label">
            <a:extLst xmlns:a="http://schemas.openxmlformats.org/drawingml/2006/main">
              <a:ext uri="{FF2B5EF4-FFF2-40B4-BE49-F238E27FC236}">
                <a16:creationId xmlns:a16="http://schemas.microsoft.com/office/drawing/2014/main" id="{AFF6840E-F261-476E-B507-4B5283B5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431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8C4C7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A8C4C7"/>
                </a:solidFill>
                <a:latin typeface="Nanum Gothic"/>
                <a:ea typeface="Nanum Gothic"/>
                <a:cs typeface="Nanum Gothic"/>
              </a:rPr>
              <a:t>총 투자액</a:t>
            </a:r>
          </a:p>
        </p:txBody>
      </p:sp>
      <p:sp>
        <p:nvSpPr>
          <p:cNvPr id="9" name="총 투자액-value">
            <a:extLst xmlns:a="http://schemas.openxmlformats.org/drawingml/2006/main">
              <a:ext uri="{FF2B5EF4-FFF2-40B4-BE49-F238E27FC236}">
                <a16:creationId xmlns:a16="http://schemas.microsoft.com/office/drawing/2014/main" id="{AED23FDB-5A9A-4798-9740-BB3CF6A8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2E7C5"/>
                </a:solidFill>
                <a:latin typeface="Nanum Gothic"/>
                <a:ea typeface="Nanum Gothic"/>
                <a:cs typeface="Nanum Gothic"/>
              </a:defRPr>
            </a:pPr>
            <a:r>
              <a:rPr sz="2250" b="1">
                <a:solidFill>
                  <a:srgbClr val="62E7C5"/>
                </a:solidFill>
                <a:latin typeface="Nanum Gothic"/>
                <a:ea typeface="Nanum Gothic"/>
                <a:cs typeface="Nanum Gothic"/>
              </a:rPr>
              <a:t>₩1,152.0M</a:t>
            </a:r>
          </a:p>
        </p:txBody>
      </p:sp>
      <p:sp>
        <p:nvSpPr>
          <p:cNvPr id="10" name="예상 ARR-label">
            <a:extLst xmlns:a="http://schemas.openxmlformats.org/drawingml/2006/main">
              <a:ext uri="{FF2B5EF4-FFF2-40B4-BE49-F238E27FC236}">
                <a16:creationId xmlns:a16="http://schemas.microsoft.com/office/drawing/2014/main" id="{6FCEA481-273E-4960-B4CE-73F2B27E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431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8C4C7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A8C4C7"/>
                </a:solidFill>
                <a:latin typeface="Nanum Gothic"/>
                <a:ea typeface="Nanum Gothic"/>
                <a:cs typeface="Nanum Gothic"/>
              </a:rPr>
              <a:t>예상 ARR</a:t>
            </a:r>
          </a:p>
        </p:txBody>
      </p:sp>
      <p:sp>
        <p:nvSpPr>
          <p:cNvPr id="11" name="예상 ARR-value">
            <a:extLst xmlns:a="http://schemas.openxmlformats.org/drawingml/2006/main">
              <a:ext uri="{FF2B5EF4-FFF2-40B4-BE49-F238E27FC236}">
                <a16:creationId xmlns:a16="http://schemas.microsoft.com/office/drawing/2014/main" id="{DC596901-54B0-4707-9F0B-780CD23C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003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2E7C5"/>
                </a:solidFill>
                <a:latin typeface="Nanum Gothic"/>
                <a:ea typeface="Nanum Gothic"/>
                <a:cs typeface="Nanum Gothic"/>
              </a:defRPr>
            </a:pPr>
            <a:r>
              <a:rPr sz="2250" b="1">
                <a:solidFill>
                  <a:srgbClr val="62E7C5"/>
                </a:solidFill>
                <a:latin typeface="Nanum Gothic"/>
                <a:ea typeface="Nanum Gothic"/>
                <a:cs typeface="Nanum Gothic"/>
              </a:rPr>
              <a:t>₩1,175.9M</a:t>
            </a:r>
          </a:p>
        </p:txBody>
      </p:sp>
      <p:sp>
        <p:nvSpPr>
          <p:cNvPr id="12" name="Base 순가치-label">
            <a:extLst xmlns:a="http://schemas.openxmlformats.org/drawingml/2006/main">
              <a:ext uri="{FF2B5EF4-FFF2-40B4-BE49-F238E27FC236}">
                <a16:creationId xmlns:a16="http://schemas.microsoft.com/office/drawing/2014/main" id="{900375D5-7C57-4F08-9797-18E9BFB7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431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8C4C7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A8C4C7"/>
                </a:solidFill>
                <a:latin typeface="Nanum Gothic"/>
                <a:ea typeface="Nanum Gothic"/>
                <a:cs typeface="Nanum Gothic"/>
              </a:rPr>
              <a:t>Base 순가치</a:t>
            </a:r>
          </a:p>
        </p:txBody>
      </p:sp>
      <p:sp>
        <p:nvSpPr>
          <p:cNvPr id="13" name="Base 순가치-value">
            <a:extLst xmlns:a="http://schemas.openxmlformats.org/drawingml/2006/main">
              <a:ext uri="{FF2B5EF4-FFF2-40B4-BE49-F238E27FC236}">
                <a16:creationId xmlns:a16="http://schemas.microsoft.com/office/drawing/2014/main" id="{8006B131-FF64-40B3-858A-40D8283D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003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8F0B8"/>
                </a:solidFill>
                <a:latin typeface="Nanum Gothic"/>
                <a:ea typeface="Nanum Gothic"/>
                <a:cs typeface="Nanum Gothic"/>
              </a:defRPr>
            </a:pPr>
            <a:r>
              <a:rPr sz="2250" b="1">
                <a:solidFill>
                  <a:srgbClr val="A8F0B8"/>
                </a:solidFill>
                <a:latin typeface="Nanum Gothic"/>
                <a:ea typeface="Nanum Gothic"/>
                <a:cs typeface="Nanum Gothic"/>
              </a:rPr>
              <a:t>₩23.8M</a:t>
            </a:r>
          </a:p>
        </p:txBody>
      </p:sp>
      <p:sp>
        <p:nvSpPr>
          <p:cNvPr id="14" name="가중 성공확률-label">
            <a:extLst xmlns:a="http://schemas.openxmlformats.org/drawingml/2006/main">
              <a:ext uri="{FF2B5EF4-FFF2-40B4-BE49-F238E27FC236}">
                <a16:creationId xmlns:a16="http://schemas.microsoft.com/office/drawing/2014/main" id="{64989CE2-D2E6-4C7A-A2BC-3E92728A9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1431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8C4C7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A8C4C7"/>
                </a:solidFill>
                <a:latin typeface="Nanum Gothic"/>
                <a:ea typeface="Nanum Gothic"/>
                <a:cs typeface="Nanum Gothic"/>
              </a:rPr>
              <a:t>가중 성공확률</a:t>
            </a:r>
          </a:p>
        </p:txBody>
      </p:sp>
      <p:sp>
        <p:nvSpPr>
          <p:cNvPr id="15" name="가중 성공확률-value">
            <a:extLst xmlns:a="http://schemas.openxmlformats.org/drawingml/2006/main">
              <a:ext uri="{FF2B5EF4-FFF2-40B4-BE49-F238E27FC236}">
                <a16:creationId xmlns:a16="http://schemas.microsoft.com/office/drawing/2014/main" id="{FCB7D3DA-A9CF-4857-89CE-0C66D4B3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4003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8F2DE"/>
                </a:solidFill>
                <a:latin typeface="Nanum Gothic"/>
                <a:ea typeface="Nanum Gothic"/>
                <a:cs typeface="Nanum Gothic"/>
              </a:defRPr>
            </a:pPr>
            <a:r>
              <a:rPr sz="2250" b="1">
                <a:solidFill>
                  <a:srgbClr val="B8F2DE"/>
                </a:solidFill>
                <a:latin typeface="Nanum Gothic"/>
                <a:ea typeface="Nanum Gothic"/>
                <a:cs typeface="Nanum Gothic"/>
              </a:rPr>
              <a:t>60.3%</a:t>
            </a:r>
          </a:p>
        </p:txBody>
      </p:sp>
      <p:sp>
        <p:nvSpPr>
          <p:cNvPr id="16" name="decision-block">
            <a:extLst xmlns:a="http://schemas.openxmlformats.org/drawingml/2006/main">
              <a:ext uri="{FF2B5EF4-FFF2-40B4-BE49-F238E27FC236}">
                <a16:creationId xmlns:a16="http://schemas.microsoft.com/office/drawing/2014/main" id="{5FE2E98B-34C0-439A-8C12-EA204DF99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00450"/>
            <a:ext cx="111252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113653"/>
          </a:solidFill>
          <a:ln xmlns:a="http://schemas.openxmlformats.org/drawingml/2006/main" w="9525">
            <a:solidFill>
              <a:srgbClr val="2B516B"/>
            </a:solidFill>
            <a:prstDash val="solid"/>
          </a:ln>
        </p:spPr>
      </p:sp>
      <p:sp>
        <p:nvSpPr>
          <p:cNvPr id="17" name="decision-kicker">
            <a:extLst xmlns:a="http://schemas.openxmlformats.org/drawingml/2006/main">
              <a:ext uri="{FF2B5EF4-FFF2-40B4-BE49-F238E27FC236}">
                <a16:creationId xmlns:a16="http://schemas.microsoft.com/office/drawing/2014/main" id="{86FD6C2D-F26B-4922-BF39-F8555418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E7C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62E7C5"/>
                </a:solidFill>
                <a:latin typeface="Nanum Gothic"/>
                <a:ea typeface="Nanum Gothic"/>
                <a:cs typeface="Nanum Gothic"/>
              </a:rPr>
              <a:t>결론</a:t>
            </a:r>
          </a:p>
        </p:txBody>
      </p:sp>
      <p:sp>
        <p:nvSpPr>
          <p:cNvPr id="18" name="decision-headline">
            <a:extLst xmlns:a="http://schemas.openxmlformats.org/drawingml/2006/main">
              <a:ext uri="{FF2B5EF4-FFF2-40B4-BE49-F238E27FC236}">
                <a16:creationId xmlns:a16="http://schemas.microsoft.com/office/drawing/2014/main" id="{AE2C28B1-F813-4160-8C89-A6FF47B7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100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BFA"/>
                </a:solidFill>
                <a:latin typeface="Nanum Gothic"/>
                <a:ea typeface="Nanum Gothic"/>
                <a:cs typeface="Nanum Gothic"/>
              </a:defRPr>
            </a:pPr>
            <a:r>
              <a:rPr sz="2250" b="1">
                <a:solidFill>
                  <a:srgbClr val="F7FBFA"/>
                </a:solidFill>
                <a:latin typeface="Nanum Gothic"/>
                <a:ea typeface="Nanum Gothic"/>
                <a:cs typeface="Nanum Gothic"/>
              </a:rPr>
              <a:t>단계적 집행이 합리적입니다.</a:t>
            </a:r>
          </a:p>
        </p:txBody>
      </p:sp>
      <p:sp>
        <p:nvSpPr>
          <p:cNvPr id="19" name="decision-copy">
            <a:extLst xmlns:a="http://schemas.openxmlformats.org/drawingml/2006/main">
              <a:ext uri="{FF2B5EF4-FFF2-40B4-BE49-F238E27FC236}">
                <a16:creationId xmlns:a16="http://schemas.microsoft.com/office/drawing/2014/main" id="{D743F423-5369-4D2D-8B05-9AA3603C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571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A8C4C7"/>
                </a:solidFill>
                <a:latin typeface="Nanum Gothic"/>
                <a:ea typeface="Nanum Gothic"/>
                <a:cs typeface="Nanum Gothic"/>
              </a:defRPr>
            </a:pPr>
            <a:r>
              <a:rPr sz="1350">
                <a:solidFill>
                  <a:srgbClr val="A8C4C7"/>
                </a:solidFill>
                <a:latin typeface="Nanum Gothic"/>
                <a:ea typeface="Nanum Gothic"/>
                <a:cs typeface="Nanum Gothic"/>
              </a:rPr>
              <a:t>Base 순가치는 양수지만, Downside 순가치는 음수입니다.</a:t>
            </a:r>
          </a:p>
          <a:p xmlns:a="http://schemas.openxmlformats.org/drawingml/2006/main">
            <a:pPr algn="l">
              <a:defRPr sz="1350">
                <a:solidFill>
                  <a:srgbClr val="A8C4C7"/>
                </a:solidFill>
                <a:latin typeface="Nanum Gothic"/>
                <a:ea typeface="Nanum Gothic"/>
                <a:cs typeface="Nanum Gothic"/>
              </a:defRPr>
            </a:pPr>
            <a:r>
              <a:rPr sz="1350">
                <a:solidFill>
                  <a:srgbClr val="A8C4C7"/>
                </a:solidFill>
                <a:latin typeface="Nanum Gothic"/>
                <a:ea typeface="Nanum Gothic"/>
                <a:cs typeface="Nanum Gothic"/>
              </a:rPr>
              <a:t>우선순위 1~3위 조합을 먼저 검증하고 비용·성공확률을 게이트로 관리합니다.</a:t>
            </a:r>
          </a:p>
        </p:txBody>
      </p:sp>
      <p:sp>
        <p:nvSpPr>
          <p:cNvPr id="20" name="decision-divider">
            <a:extLst xmlns:a="http://schemas.openxmlformats.org/drawingml/2006/main">
              <a:ext uri="{FF2B5EF4-FFF2-40B4-BE49-F238E27FC236}">
                <a16:creationId xmlns:a16="http://schemas.microsoft.com/office/drawing/2014/main" id="{0001287C-43C3-4D92-8D9D-80A4BC73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52875"/>
            <a:ext cx="190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16B"/>
          </a:solidFill>
          <a:ln xmlns:a="http://schemas.openxmlformats.org/drawingml/2006/main" w="0">
            <a:solidFill>
              <a:srgbClr val="2B516B"/>
            </a:solidFill>
            <a:prstDash val="solid"/>
          </a:ln>
        </p:spPr>
      </p:sp>
      <p:sp>
        <p:nvSpPr>
          <p:cNvPr id="21" name="scenario-label">
            <a:extLst xmlns:a="http://schemas.openxmlformats.org/drawingml/2006/main">
              <a:ext uri="{FF2B5EF4-FFF2-40B4-BE49-F238E27FC236}">
                <a16:creationId xmlns:a16="http://schemas.microsoft.com/office/drawing/2014/main" id="{534E3692-9765-459A-9285-924D56FE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433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E7C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62E7C5"/>
                </a:solidFill>
                <a:latin typeface="Nanum Gothic"/>
                <a:ea typeface="Nanum Gothic"/>
                <a:cs typeface="Nanum Gothic"/>
              </a:rPr>
              <a:t>12개월 순가치 스트레스</a:t>
            </a:r>
          </a:p>
        </p:txBody>
      </p:sp>
      <p:sp>
        <p:nvSpPr>
          <p:cNvPr id="22" name="downside-value">
            <a:extLst xmlns:a="http://schemas.openxmlformats.org/drawingml/2006/main">
              <a:ext uri="{FF2B5EF4-FFF2-40B4-BE49-F238E27FC236}">
                <a16:creationId xmlns:a16="http://schemas.microsoft.com/office/drawing/2014/main" id="{2CBD7321-AAA3-4540-8CB9-6E150458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624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9E8F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FF9E8F"/>
                </a:solidFill>
                <a:latin typeface="Nanum Gothic"/>
                <a:ea typeface="Nanum Gothic"/>
                <a:cs typeface="Nanum Gothic"/>
              </a:rPr>
              <a:t>Downside  -₩618.1M</a:t>
            </a:r>
          </a:p>
        </p:txBody>
      </p:sp>
      <p:sp>
        <p:nvSpPr>
          <p:cNvPr id="23" name="base-value">
            <a:extLst xmlns:a="http://schemas.openxmlformats.org/drawingml/2006/main">
              <a:ext uri="{FF2B5EF4-FFF2-40B4-BE49-F238E27FC236}">
                <a16:creationId xmlns:a16="http://schemas.microsoft.com/office/drawing/2014/main" id="{02FA9E7C-DBDC-498E-AD82-62192FBE7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625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8F0B8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A8F0B8"/>
                </a:solidFill>
                <a:latin typeface="Nanum Gothic"/>
                <a:ea typeface="Nanum Gothic"/>
                <a:cs typeface="Nanum Gothic"/>
              </a:rPr>
              <a:t>Base       ₩23.8M</a:t>
            </a:r>
          </a:p>
        </p:txBody>
      </p:sp>
      <p:sp>
        <p:nvSpPr>
          <p:cNvPr id="24" name="upside-value">
            <a:extLst xmlns:a="http://schemas.openxmlformats.org/drawingml/2006/main">
              <a:ext uri="{FF2B5EF4-FFF2-40B4-BE49-F238E27FC236}">
                <a16:creationId xmlns:a16="http://schemas.microsoft.com/office/drawing/2014/main" id="{8CD7F80A-ABA8-499C-B113-AA5238BFE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625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2E7C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62E7C5"/>
                </a:solidFill>
                <a:latin typeface="Nanum Gothic"/>
                <a:ea typeface="Nanum Gothic"/>
                <a:cs typeface="Nanum Gothic"/>
              </a:rPr>
              <a:t>Upside     ₩608.2M</a:t>
            </a:r>
          </a:p>
        </p:txBody>
      </p:sp>
    </p:spTree>
    <p:extLst>
      <p:ext uri="{BB962C8B-B14F-4D97-AF65-F5344CB8AC3E}">
        <p14:creationId xmlns:p14="http://schemas.microsoft.com/office/powerpoint/2010/main" val="8380483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eyebrow">
            <a:extLst xmlns:a="http://schemas.openxmlformats.org/drawingml/2006/main">
              <a:ext uri="{FF2B5EF4-FFF2-40B4-BE49-F238E27FC236}">
                <a16:creationId xmlns:a16="http://schemas.microsoft.com/office/drawing/2014/main" id="{92674B72-C7D7-4D8E-9421-445510E5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E7C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62E7C5"/>
                </a:solidFill>
                <a:latin typeface="Nanum Gothic"/>
                <a:ea typeface="Nanum Gothic"/>
                <a:cs typeface="Nanum Gothic"/>
              </a:rPr>
              <a:t>PORTFOLIO PRIORITY · SCENARIO STRESS</a:t>
            </a:r>
          </a:p>
        </p:txBody>
      </p:sp>
      <p:sp>
        <p:nvSpPr>
          <p:cNvPr id="2" name="top-rule">
            <a:extLst xmlns:a="http://schemas.openxmlformats.org/drawingml/2006/main">
              <a:ext uri="{FF2B5EF4-FFF2-40B4-BE49-F238E27FC236}">
                <a16:creationId xmlns:a16="http://schemas.microsoft.com/office/drawing/2014/main" id="{31C2F4B5-20FD-4CDB-84CF-57202CCD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E7C5"/>
          </a:solidFill>
          <a:ln xmlns:a="http://schemas.openxmlformats.org/drawingml/2006/main" w="0">
            <a:solidFill>
              <a:srgbClr val="62E7C5"/>
            </a:solidFill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F9B93F3-C889-42C4-807E-AB1DDEF2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BFA"/>
                </a:solidFill>
                <a:latin typeface="Nanum Gothic"/>
                <a:ea typeface="Nanum Gothic"/>
                <a:cs typeface="Nanum Gothic"/>
              </a:defRPr>
            </a:pPr>
            <a:r>
              <a:rPr sz="2700" b="1">
                <a:solidFill>
                  <a:srgbClr val="F7FBFA"/>
                </a:solidFill>
                <a:latin typeface="Nanum Gothic"/>
                <a:ea typeface="Nanum Gothic"/>
                <a:cs typeface="Nanum Gothic"/>
              </a:rPr>
              <a:t>상위 3개가 수익을 만들지만, 전체 Downside는 큽니다.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9376F1F4-4EA1-4F82-861F-55531AA0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112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A8C4C7"/>
                </a:solidFill>
                <a:latin typeface="Nanum Gothic"/>
                <a:ea typeface="Nanum Gothic"/>
                <a:cs typeface="Nanum Gothic"/>
              </a:defRPr>
            </a:pPr>
            <a:r>
              <a:rPr sz="1350">
                <a:solidFill>
                  <a:srgbClr val="A8C4C7"/>
                </a:solidFill>
                <a:latin typeface="Nanum Gothic"/>
                <a:ea typeface="Nanum Gothic"/>
                <a:cs typeface="Nanum Gothic"/>
              </a:rPr>
              <a:t>Portfolio &amp; scenario stress test · 우선순위 점수와 시나리오 순가치의 교차 검토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DEB7B553-3D75-4A29-9EAB-BAF5BEF3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A8C4C7"/>
                </a:solidFill>
                <a:latin typeface="Nanum Gothic"/>
                <a:ea typeface="Nanum Gothic"/>
                <a:cs typeface="Nanum Gothic"/>
              </a:defRPr>
            </a:pPr>
            <a:r>
              <a:rPr sz="1200">
                <a:solidFill>
                  <a:srgbClr val="A8C4C7"/>
                </a:solidFill>
                <a:latin typeface="Nanum Gothic"/>
                <a:ea typeface="Nanum Gothic"/>
                <a:cs typeface="Nanum Gothic"/>
              </a:rPr>
              <a:t>Source: model comparison portfolio workbook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B9004D47-74DF-4471-9840-CC130E56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4367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priority-block">
            <a:extLst xmlns:a="http://schemas.openxmlformats.org/drawingml/2006/main">
              <a:ext uri="{FF2B5EF4-FFF2-40B4-BE49-F238E27FC236}">
                <a16:creationId xmlns:a16="http://schemas.microsoft.com/office/drawing/2014/main" id="{4A95676D-9976-46BF-ABAF-801136A5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4000500" cy="4095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D2A45"/>
          </a:solidFill>
          <a:ln xmlns:a="http://schemas.openxmlformats.org/drawingml/2006/main" w="9525">
            <a:solidFill>
              <a:srgbClr val="2B516B"/>
            </a:solidFill>
            <a:prstDash val="solid"/>
          </a:ln>
        </p:spPr>
      </p:sp>
      <p:sp>
        <p:nvSpPr>
          <p:cNvPr id="8" name="priority-title">
            <a:extLst xmlns:a="http://schemas.openxmlformats.org/drawingml/2006/main">
              <a:ext uri="{FF2B5EF4-FFF2-40B4-BE49-F238E27FC236}">
                <a16:creationId xmlns:a16="http://schemas.microsoft.com/office/drawing/2014/main" id="{19BDFD04-B96C-477E-AFB9-A1514D97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336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2E7C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62E7C5"/>
                </a:solidFill>
                <a:latin typeface="Nanum Gothic"/>
                <a:ea typeface="Nanum Gothic"/>
                <a:cs typeface="Nanum Gothic"/>
              </a:rPr>
              <a:t>상위 3개 우선순위</a:t>
            </a:r>
          </a:p>
        </p:txBody>
      </p:sp>
      <p:sp>
        <p:nvSpPr>
          <p:cNvPr id="9" name="priority-note">
            <a:extLst xmlns:a="http://schemas.openxmlformats.org/drawingml/2006/main">
              <a:ext uri="{FF2B5EF4-FFF2-40B4-BE49-F238E27FC236}">
                <a16:creationId xmlns:a16="http://schemas.microsoft.com/office/drawing/2014/main" id="{FFBEA286-BD01-48EB-B3A9-D91A30C3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A8C4C7"/>
                </a:solidFill>
                <a:latin typeface="Nanum Gothic"/>
                <a:ea typeface="Nanum Gothic"/>
                <a:cs typeface="Nanum Gothic"/>
              </a:defRPr>
            </a:pPr>
            <a:r>
              <a:rPr sz="1200">
                <a:solidFill>
                  <a:srgbClr val="A8C4C7"/>
                </a:solidFill>
                <a:latin typeface="Nanum Gothic"/>
                <a:ea typeface="Nanum Gothic"/>
                <a:cs typeface="Nanum Gothic"/>
              </a:rPr>
              <a:t>리스크조정점수 기준</a:t>
            </a:r>
          </a:p>
        </p:txBody>
      </p:sp>
      <p:sp>
        <p:nvSpPr>
          <p:cNvPr id="10" name="rank-1">
            <a:extLst xmlns:a="http://schemas.openxmlformats.org/drawingml/2006/main">
              <a:ext uri="{FF2B5EF4-FFF2-40B4-BE49-F238E27FC236}">
                <a16:creationId xmlns:a16="http://schemas.microsoft.com/office/drawing/2014/main" id="{A50657F2-FAFB-4792-8E5D-4A399DED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2E7C5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62E7C5"/>
                </a:solidFill>
                <a:latin typeface="Nanum Gothic"/>
                <a:ea typeface="Nanum Gothic"/>
                <a:cs typeface="Nanum Gothic"/>
              </a:rPr>
              <a:t>01</a:t>
            </a:r>
          </a:p>
        </p:txBody>
      </p:sp>
      <p:sp>
        <p:nvSpPr>
          <p:cNvPr id="11" name="priority-1">
            <a:extLst xmlns:a="http://schemas.openxmlformats.org/drawingml/2006/main">
              <a:ext uri="{FF2B5EF4-FFF2-40B4-BE49-F238E27FC236}">
                <a16:creationId xmlns:a16="http://schemas.microsoft.com/office/drawing/2014/main" id="{A43E8EBE-AC6A-4801-A5C0-DBB04BD4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33700"/>
            <a:ext cx="2305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BFA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F7FBFA"/>
                </a:solidFill>
                <a:latin typeface="Nanum Gothic"/>
                <a:ea typeface="Nanum Gothic"/>
                <a:cs typeface="Nanum Gothic"/>
              </a:rPr>
              <a:t>API 모니터링·개발자 포털</a:t>
            </a:r>
          </a:p>
        </p:txBody>
      </p:sp>
      <p:sp>
        <p:nvSpPr>
          <p:cNvPr id="12" name="score-1">
            <a:extLst xmlns:a="http://schemas.openxmlformats.org/drawingml/2006/main">
              <a:ext uri="{FF2B5EF4-FFF2-40B4-BE49-F238E27FC236}">
                <a16:creationId xmlns:a16="http://schemas.microsoft.com/office/drawing/2014/main" id="{D125D1A4-AC8D-47DF-852A-4253F262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81325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B8F2DE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B8F2DE"/>
                </a:solidFill>
                <a:latin typeface="Nanum Gothic"/>
                <a:ea typeface="Nanum Gothic"/>
                <a:cs typeface="Nanum Gothic"/>
              </a:rPr>
              <a:t>58.8</a:t>
            </a:r>
          </a:p>
        </p:txBody>
      </p:sp>
      <p:sp>
        <p:nvSpPr>
          <p:cNvPr id="13" name="priority-rule-1">
            <a:extLst xmlns:a="http://schemas.openxmlformats.org/drawingml/2006/main">
              <a:ext uri="{FF2B5EF4-FFF2-40B4-BE49-F238E27FC236}">
                <a16:creationId xmlns:a16="http://schemas.microsoft.com/office/drawing/2014/main" id="{4072E486-28D4-4267-9671-7958F6EB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16B"/>
          </a:solidFill>
          <a:ln xmlns:a="http://schemas.openxmlformats.org/drawingml/2006/main" w="0">
            <a:solidFill>
              <a:srgbClr val="2B516B"/>
            </a:solidFill>
            <a:prstDash val="solid"/>
          </a:ln>
        </p:spPr>
      </p:sp>
      <p:sp>
        <p:nvSpPr>
          <p:cNvPr id="14" name="rank-2">
            <a:extLst xmlns:a="http://schemas.openxmlformats.org/drawingml/2006/main">
              <a:ext uri="{FF2B5EF4-FFF2-40B4-BE49-F238E27FC236}">
                <a16:creationId xmlns:a16="http://schemas.microsoft.com/office/drawing/2014/main" id="{169CD343-7983-4D62-A3FE-08DB95B8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71900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8C4C7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A8C4C7"/>
                </a:solidFill>
                <a:latin typeface="Nanum Gothic"/>
                <a:ea typeface="Nanum Gothic"/>
                <a:cs typeface="Nanum Gothic"/>
              </a:rPr>
              <a:t>02</a:t>
            </a:r>
          </a:p>
        </p:txBody>
      </p:sp>
      <p:sp>
        <p:nvSpPr>
          <p:cNvPr id="15" name="priority-2">
            <a:extLst xmlns:a="http://schemas.openxmlformats.org/drawingml/2006/main">
              <a:ext uri="{FF2B5EF4-FFF2-40B4-BE49-F238E27FC236}">
                <a16:creationId xmlns:a16="http://schemas.microsoft.com/office/drawing/2014/main" id="{8F0B45DC-5244-41B5-AA63-F20316AD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752850"/>
            <a:ext cx="2305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BFA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F7FBFA"/>
                </a:solidFill>
                <a:latin typeface="Nanum Gothic"/>
                <a:ea typeface="Nanum Gothic"/>
                <a:cs typeface="Nanum Gothic"/>
              </a:rPr>
              <a:t>영업 파이프라인 자동화 CRM</a:t>
            </a:r>
          </a:p>
        </p:txBody>
      </p:sp>
      <p:sp>
        <p:nvSpPr>
          <p:cNvPr id="16" name="score-2">
            <a:extLst xmlns:a="http://schemas.openxmlformats.org/drawingml/2006/main">
              <a:ext uri="{FF2B5EF4-FFF2-40B4-BE49-F238E27FC236}">
                <a16:creationId xmlns:a16="http://schemas.microsoft.com/office/drawing/2014/main" id="{C0D1CF4E-1F82-452C-A694-C4FD0BA4C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00475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B8F2DE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B8F2DE"/>
                </a:solidFill>
                <a:latin typeface="Nanum Gothic"/>
                <a:ea typeface="Nanum Gothic"/>
                <a:cs typeface="Nanum Gothic"/>
              </a:rPr>
              <a:t>54.5</a:t>
            </a:r>
          </a:p>
        </p:txBody>
      </p:sp>
      <p:sp>
        <p:nvSpPr>
          <p:cNvPr id="17" name="priority-rule-2">
            <a:extLst xmlns:a="http://schemas.openxmlformats.org/drawingml/2006/main">
              <a:ext uri="{FF2B5EF4-FFF2-40B4-BE49-F238E27FC236}">
                <a16:creationId xmlns:a16="http://schemas.microsoft.com/office/drawing/2014/main" id="{91E691A5-7B2F-4B1A-8C18-75618044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624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16B"/>
          </a:solidFill>
          <a:ln xmlns:a="http://schemas.openxmlformats.org/drawingml/2006/main" w="0">
            <a:solidFill>
              <a:srgbClr val="2B516B"/>
            </a:solidFill>
            <a:prstDash val="solid"/>
          </a:ln>
        </p:spPr>
      </p:sp>
      <p:sp>
        <p:nvSpPr>
          <p:cNvPr id="18" name="rank-3">
            <a:extLst xmlns:a="http://schemas.openxmlformats.org/drawingml/2006/main">
              <a:ext uri="{FF2B5EF4-FFF2-40B4-BE49-F238E27FC236}">
                <a16:creationId xmlns:a16="http://schemas.microsoft.com/office/drawing/2014/main" id="{5E578AB5-410A-47D3-85FE-0D7A2BD6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91050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8C4C7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A8C4C7"/>
                </a:solidFill>
                <a:latin typeface="Nanum Gothic"/>
                <a:ea typeface="Nanum Gothic"/>
                <a:cs typeface="Nanum Gothic"/>
              </a:rPr>
              <a:t>03</a:t>
            </a:r>
          </a:p>
        </p:txBody>
      </p:sp>
      <p:sp>
        <p:nvSpPr>
          <p:cNvPr id="19" name="priority-3">
            <a:extLst xmlns:a="http://schemas.openxmlformats.org/drawingml/2006/main">
              <a:ext uri="{FF2B5EF4-FFF2-40B4-BE49-F238E27FC236}">
                <a16:creationId xmlns:a16="http://schemas.microsoft.com/office/drawing/2014/main" id="{18A5F9F5-3691-4A1D-ADEB-E9D1F080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72000"/>
            <a:ext cx="2305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BFA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F7FBFA"/>
                </a:solidFill>
                <a:latin typeface="Nanum Gothic"/>
                <a:ea typeface="Nanum Gothic"/>
                <a:cs typeface="Nanum Gothic"/>
              </a:rPr>
              <a:t>HR 인력계획·스킬 매칭</a:t>
            </a:r>
          </a:p>
        </p:txBody>
      </p:sp>
      <p:sp>
        <p:nvSpPr>
          <p:cNvPr id="20" name="score-3">
            <a:extLst xmlns:a="http://schemas.openxmlformats.org/drawingml/2006/main">
              <a:ext uri="{FF2B5EF4-FFF2-40B4-BE49-F238E27FC236}">
                <a16:creationId xmlns:a16="http://schemas.microsoft.com/office/drawing/2014/main" id="{A0F99577-059B-4C5B-934B-EB0C7647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619625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B8F2DE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B8F2DE"/>
                </a:solidFill>
                <a:latin typeface="Nanum Gothic"/>
                <a:ea typeface="Nanum Gothic"/>
                <a:cs typeface="Nanum Gothic"/>
              </a:rPr>
              <a:t>51.3</a:t>
            </a:r>
          </a:p>
        </p:txBody>
      </p:sp>
      <p:sp>
        <p:nvSpPr>
          <p:cNvPr id="21" name="top3-impact">
            <a:extLst xmlns:a="http://schemas.openxmlformats.org/drawingml/2006/main">
              <a:ext uri="{FF2B5EF4-FFF2-40B4-BE49-F238E27FC236}">
                <a16:creationId xmlns:a16="http://schemas.microsoft.com/office/drawing/2014/main" id="{EE36E6F6-831D-4275-AFB7-0682FE81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673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8F0B8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A8F0B8"/>
                </a:solidFill>
                <a:latin typeface="Nanum Gothic"/>
                <a:ea typeface="Nanum Gothic"/>
                <a:cs typeface="Nanum Gothic"/>
              </a:rPr>
              <a:t>Top 3 Base 순가치  ₩59.1M</a:t>
            </a:r>
          </a:p>
        </p:txBody>
      </p:sp>
      <p:sp>
        <p:nvSpPr>
          <p:cNvPr id="22" name="scenario-block">
            <a:extLst xmlns:a="http://schemas.openxmlformats.org/drawingml/2006/main">
              <a:ext uri="{FF2B5EF4-FFF2-40B4-BE49-F238E27FC236}">
                <a16:creationId xmlns:a16="http://schemas.microsoft.com/office/drawing/2014/main" id="{D04AC8D9-5759-4D6E-AF0F-A7040EFA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885950"/>
            <a:ext cx="68580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113653"/>
          </a:solidFill>
          <a:ln xmlns:a="http://schemas.openxmlformats.org/drawingml/2006/main" w="9525">
            <a:solidFill>
              <a:srgbClr val="2B516B"/>
            </a:solidFill>
            <a:prstDash val="solid"/>
          </a:ln>
        </p:spPr>
      </p:sp>
      <p:sp>
        <p:nvSpPr>
          <p:cNvPr id="23" name="scenario-title">
            <a:extLst xmlns:a="http://schemas.openxmlformats.org/drawingml/2006/main">
              <a:ext uri="{FF2B5EF4-FFF2-40B4-BE49-F238E27FC236}">
                <a16:creationId xmlns:a16="http://schemas.microsoft.com/office/drawing/2014/main" id="{8D7824A2-133A-4A04-A95D-EF6365389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1336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2E7C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62E7C5"/>
                </a:solidFill>
                <a:latin typeface="Nanum Gothic"/>
                <a:ea typeface="Nanum Gothic"/>
                <a:cs typeface="Nanum Gothic"/>
              </a:rPr>
              <a:t>Downside / Base / Upside</a:t>
            </a:r>
          </a:p>
        </p:txBody>
      </p:sp>
      <p:sp>
        <p:nvSpPr>
          <p:cNvPr id="24" name="scenario-note">
            <a:extLst xmlns:a="http://schemas.openxmlformats.org/drawingml/2006/main">
              <a:ext uri="{FF2B5EF4-FFF2-40B4-BE49-F238E27FC236}">
                <a16:creationId xmlns:a16="http://schemas.microsoft.com/office/drawing/2014/main" id="{926991A7-48EF-4234-A781-1D3211A9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574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A8C4C7"/>
                </a:solidFill>
                <a:latin typeface="Nanum Gothic"/>
                <a:ea typeface="Nanum Gothic"/>
                <a:cs typeface="Nanum Gothic"/>
              </a:defRPr>
            </a:pPr>
            <a:r>
              <a:rPr sz="1200">
                <a:solidFill>
                  <a:srgbClr val="A8C4C7"/>
                </a:solidFill>
                <a:latin typeface="Nanum Gothic"/>
                <a:ea typeface="Nanum Gothic"/>
                <a:cs typeface="Nanum Gothic"/>
              </a:rPr>
              <a:t>12개월 포트폴리오 순가치 · ₩M</a:t>
            </a:r>
          </a:p>
        </p:txBody>
      </p:sp>
      <p:graphicFrame>
        <p:nvGraphicFramePr>
          <p:cNvPr id="52" name="Chart"/>
          <p:cNvGraphicFramePr/>
          <p:nvPr/>
        </p:nvGraphicFramePr>
        <p:xfrm>
          <a:off xmlns:a="http://schemas.openxmlformats.org/drawingml/2006/main" x="5181600" y="2857500"/>
          <a:ext xmlns:a="http://schemas.openxmlformats.org/drawingml/2006/main" cx="6096000" cy="2333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1292f3807414463"/>
          </a:graphicData>
        </a:graphic>
      </p:graphicFrame>
      <p:sp>
        <p:nvSpPr>
          <p:cNvPr id="26" name="scenario-values">
            <a:extLst xmlns:a="http://schemas.openxmlformats.org/drawingml/2006/main">
              <a:ext uri="{FF2B5EF4-FFF2-40B4-BE49-F238E27FC236}">
                <a16:creationId xmlns:a16="http://schemas.microsoft.com/office/drawing/2014/main" id="{BC1FC1D2-0FFF-4625-B488-E0EA47F1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29590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7FBFA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F7FBFA"/>
                </a:solidFill>
                <a:latin typeface="Nanum Gothic"/>
                <a:ea typeface="Nanum Gothic"/>
                <a:cs typeface="Nanum Gothic"/>
              </a:rPr>
              <a:t>-₩618.1M     ₩23.8M     ₩608.2M</a:t>
            </a:r>
          </a:p>
        </p:txBody>
      </p:sp>
      <p:sp>
        <p:nvSpPr>
          <p:cNvPr id="27" name="scenario-implication">
            <a:extLst xmlns:a="http://schemas.openxmlformats.org/drawingml/2006/main">
              <a:ext uri="{FF2B5EF4-FFF2-40B4-BE49-F238E27FC236}">
                <a16:creationId xmlns:a16="http://schemas.microsoft.com/office/drawing/2014/main" id="{FBAA7376-EFB2-4BE2-930A-750A50EB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6388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A8C4C7"/>
                </a:solidFill>
                <a:latin typeface="Nanum Gothic"/>
                <a:ea typeface="Nanum Gothic"/>
                <a:cs typeface="Nanum Gothic"/>
              </a:defRPr>
            </a:pPr>
            <a:r>
              <a:rPr sz="1200">
                <a:solidFill>
                  <a:srgbClr val="A8C4C7"/>
                </a:solidFill>
                <a:latin typeface="Nanum Gothic"/>
                <a:ea typeface="Nanum Gothic"/>
                <a:cs typeface="Nanum Gothic"/>
              </a:rPr>
              <a:t>의미: 전체 포트폴리오는 Downside에서 방어되지 않으므로, 상위 3개를 먼저 검증하고 확장합니다.</a:t>
            </a:r>
          </a:p>
        </p:txBody>
      </p:sp>
    </p:spTree>
    <p:extLst>
      <p:ext uri="{BB962C8B-B14F-4D97-AF65-F5344CB8AC3E}">
        <p14:creationId xmlns:p14="http://schemas.microsoft.com/office/powerpoint/2010/main" val="17816631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eyebrow">
            <a:extLst xmlns:a="http://schemas.openxmlformats.org/drawingml/2006/main">
              <a:ext uri="{FF2B5EF4-FFF2-40B4-BE49-F238E27FC236}">
                <a16:creationId xmlns:a16="http://schemas.microsoft.com/office/drawing/2014/main" id="{77E1F20B-E4C7-4D94-908E-5E758021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E7C5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62E7C5"/>
                </a:solidFill>
                <a:latin typeface="Nanum Gothic"/>
                <a:ea typeface="Nanum Gothic"/>
                <a:cs typeface="Nanum Gothic"/>
              </a:rPr>
              <a:t>RECOMMENDATION · 90-DAY GATES</a:t>
            </a:r>
          </a:p>
        </p:txBody>
      </p:sp>
      <p:sp>
        <p:nvSpPr>
          <p:cNvPr id="2" name="top-rule">
            <a:extLst xmlns:a="http://schemas.openxmlformats.org/drawingml/2006/main">
              <a:ext uri="{FF2B5EF4-FFF2-40B4-BE49-F238E27FC236}">
                <a16:creationId xmlns:a16="http://schemas.microsoft.com/office/drawing/2014/main" id="{FE6A3246-E9D7-4642-97EC-23AFD449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E7C5"/>
          </a:solidFill>
          <a:ln xmlns:a="http://schemas.openxmlformats.org/drawingml/2006/main" w="0">
            <a:solidFill>
              <a:srgbClr val="62E7C5"/>
            </a:solidFill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992D422-4911-4BA3-BD52-D749BAB14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BFA"/>
                </a:solidFill>
                <a:latin typeface="Nanum Gothic"/>
                <a:ea typeface="Nanum Gothic"/>
                <a:cs typeface="Nanum Gothic"/>
              </a:defRPr>
            </a:pPr>
            <a:r>
              <a:rPr sz="2700" b="1">
                <a:solidFill>
                  <a:srgbClr val="F7FBFA"/>
                </a:solidFill>
                <a:latin typeface="Nanum Gothic"/>
                <a:ea typeface="Nanum Gothic"/>
                <a:cs typeface="Nanum Gothic"/>
              </a:rPr>
              <a:t>권고 조합은 상위 3개로 제한하고 90일 검증 게이트를 둡니다.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5A4DD45B-9B9C-4892-A313-0AA51E2A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112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A8C4C7"/>
                </a:solidFill>
                <a:latin typeface="Nanum Gothic"/>
                <a:ea typeface="Nanum Gothic"/>
                <a:cs typeface="Nanum Gothic"/>
              </a:defRPr>
            </a:pPr>
            <a:r>
              <a:rPr sz="1350">
                <a:solidFill>
                  <a:srgbClr val="A8C4C7"/>
                </a:solidFill>
                <a:latin typeface="Nanum Gothic"/>
                <a:ea typeface="Nanum Gothic"/>
                <a:cs typeface="Nanum Gothic"/>
              </a:rPr>
              <a:t>Recommendation &amp; 90-day gates · 모델 수익성은 보존하고, 하방 노출은 단계적으로 줄이는 운영안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8BF65D07-A559-4218-A465-0032586F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A8C4C7"/>
                </a:solidFill>
                <a:latin typeface="Nanum Gothic"/>
                <a:ea typeface="Nanum Gothic"/>
                <a:cs typeface="Nanum Gothic"/>
              </a:defRPr>
            </a:pPr>
            <a:r>
              <a:rPr sz="1200">
                <a:solidFill>
                  <a:srgbClr val="A8C4C7"/>
                </a:solidFill>
                <a:latin typeface="Nanum Gothic"/>
                <a:ea typeface="Nanum Gothic"/>
                <a:cs typeface="Nanum Gothic"/>
              </a:rPr>
              <a:t>Source: model comparison portfolio workbook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E9D48B83-A3D2-4E2C-8C4D-5A4626EF1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4367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recommendation-block">
            <a:extLst xmlns:a="http://schemas.openxmlformats.org/drawingml/2006/main">
              <a:ext uri="{FF2B5EF4-FFF2-40B4-BE49-F238E27FC236}">
                <a16:creationId xmlns:a16="http://schemas.microsoft.com/office/drawing/2014/main" id="{8CF66EE6-5527-40DC-A905-06583CBF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3552825" cy="4095750"/>
          </a:xfrm>
          <a:prstGeom xmlns:a="http://schemas.openxmlformats.org/drawingml/2006/main" prst="roundRect">
            <a:avLst>
              <a:gd name="adj" fmla="val 3217"/>
            </a:avLst>
          </a:prstGeom>
          <a:solidFill xmlns:a="http://schemas.openxmlformats.org/drawingml/2006/main">
            <a:srgbClr val="0D2A45"/>
          </a:solidFill>
          <a:ln xmlns:a="http://schemas.openxmlformats.org/drawingml/2006/main" w="9525">
            <a:solidFill>
              <a:srgbClr val="2B516B"/>
            </a:solidFill>
            <a:prstDash val="solid"/>
          </a:ln>
        </p:spPr>
      </p:sp>
      <p:sp>
        <p:nvSpPr>
          <p:cNvPr id="8" name="recommendation-title">
            <a:extLst xmlns:a="http://schemas.openxmlformats.org/drawingml/2006/main">
              <a:ext uri="{FF2B5EF4-FFF2-40B4-BE49-F238E27FC236}">
                <a16:creationId xmlns:a16="http://schemas.microsoft.com/office/drawing/2014/main" id="{8FAC1815-BE3F-475D-9F8C-7D738E637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33600"/>
            <a:ext cx="30194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2E7C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62E7C5"/>
                </a:solidFill>
                <a:latin typeface="Nanum Gothic"/>
                <a:ea typeface="Nanum Gothic"/>
                <a:cs typeface="Nanum Gothic"/>
              </a:rPr>
              <a:t>권고 투자 조합</a:t>
            </a:r>
          </a:p>
        </p:txBody>
      </p:sp>
      <p:sp>
        <p:nvSpPr>
          <p:cNvPr id="9" name="recommendation-names">
            <a:extLst xmlns:a="http://schemas.openxmlformats.org/drawingml/2006/main">
              <a:ext uri="{FF2B5EF4-FFF2-40B4-BE49-F238E27FC236}">
                <a16:creationId xmlns:a16="http://schemas.microsoft.com/office/drawing/2014/main" id="{59DDDCA0-A824-4A9A-91F7-A3A8651D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30194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F7FBFA"/>
                </a:solidFill>
                <a:latin typeface="Nanum Gothic"/>
                <a:ea typeface="Nanum Gothic"/>
                <a:cs typeface="Nanum Gothic"/>
              </a:defRPr>
            </a:pPr>
            <a:r>
              <a:rPr sz="1275">
                <a:solidFill>
                  <a:srgbClr val="F7FBFA"/>
                </a:solidFill>
                <a:latin typeface="Nanum Gothic"/>
                <a:ea typeface="Nanum Gothic"/>
                <a:cs typeface="Nanum Gothic"/>
              </a:rPr>
              <a:t>1. API 모니터링·개발자 포털</a:t>
            </a:r>
          </a:p>
          <a:p xmlns:a="http://schemas.openxmlformats.org/drawingml/2006/main">
            <a:pPr algn="l">
              <a:defRPr sz="1275">
                <a:solidFill>
                  <a:srgbClr val="F7FBFA"/>
                </a:solidFill>
                <a:latin typeface="Nanum Gothic"/>
                <a:ea typeface="Nanum Gothic"/>
                <a:cs typeface="Nanum Gothic"/>
              </a:defRPr>
            </a:pPr>
            <a:r>
              <a:rPr sz="1275">
                <a:solidFill>
                  <a:srgbClr val="F7FBFA"/>
                </a:solidFill>
                <a:latin typeface="Nanum Gothic"/>
                <a:ea typeface="Nanum Gothic"/>
                <a:cs typeface="Nanum Gothic"/>
              </a:rPr>
              <a:t>2. 영업 파이프라인 자동화 CRM</a:t>
            </a:r>
          </a:p>
          <a:p xmlns:a="http://schemas.openxmlformats.org/drawingml/2006/main">
            <a:pPr algn="l">
              <a:defRPr sz="1275">
                <a:solidFill>
                  <a:srgbClr val="F7FBFA"/>
                </a:solidFill>
                <a:latin typeface="Nanum Gothic"/>
                <a:ea typeface="Nanum Gothic"/>
                <a:cs typeface="Nanum Gothic"/>
              </a:defRPr>
            </a:pPr>
            <a:r>
              <a:rPr sz="1275">
                <a:solidFill>
                  <a:srgbClr val="F7FBFA"/>
                </a:solidFill>
                <a:latin typeface="Nanum Gothic"/>
                <a:ea typeface="Nanum Gothic"/>
                <a:cs typeface="Nanum Gothic"/>
              </a:rPr>
              <a:t>3. HR 인력계획·스킬 매칭</a:t>
            </a:r>
          </a:p>
        </p:txBody>
      </p:sp>
      <p:sp>
        <p:nvSpPr>
          <p:cNvPr id="10" name="recommendation-divider">
            <a:extLst xmlns:a="http://schemas.openxmlformats.org/drawingml/2006/main">
              <a:ext uri="{FF2B5EF4-FFF2-40B4-BE49-F238E27FC236}">
                <a16:creationId xmlns:a16="http://schemas.microsoft.com/office/drawing/2014/main" id="{4C07DA70-AABB-44CE-B47B-286E3BFB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3019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16B"/>
          </a:solidFill>
          <a:ln xmlns:a="http://schemas.openxmlformats.org/drawingml/2006/main" w="0">
            <a:solidFill>
              <a:srgbClr val="2B516B"/>
            </a:solidFill>
            <a:prstDash val="solid"/>
          </a:ln>
        </p:spPr>
      </p:sp>
      <p:sp>
        <p:nvSpPr>
          <p:cNvPr id="11" name="rec-investment-label">
            <a:extLst xmlns:a="http://schemas.openxmlformats.org/drawingml/2006/main">
              <a:ext uri="{FF2B5EF4-FFF2-40B4-BE49-F238E27FC236}">
                <a16:creationId xmlns:a16="http://schemas.microsoft.com/office/drawing/2014/main" id="{3479E765-3DCC-4FAB-A7F5-35723A33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A8C4C7"/>
                </a:solidFill>
                <a:latin typeface="Nanum Gothic"/>
                <a:ea typeface="Nanum Gothic"/>
                <a:cs typeface="Nanum Gothic"/>
              </a:defRPr>
            </a:pPr>
            <a:r>
              <a:rPr sz="1200">
                <a:solidFill>
                  <a:srgbClr val="A8C4C7"/>
                </a:solidFill>
                <a:latin typeface="Nanum Gothic"/>
                <a:ea typeface="Nanum Gothic"/>
                <a:cs typeface="Nanum Gothic"/>
              </a:rPr>
              <a:t>상위 3개 집행비</a:t>
            </a:r>
          </a:p>
        </p:txBody>
      </p:sp>
      <p:sp>
        <p:nvSpPr>
          <p:cNvPr id="12" name="rec-investment">
            <a:extLst xmlns:a="http://schemas.openxmlformats.org/drawingml/2006/main">
              <a:ext uri="{FF2B5EF4-FFF2-40B4-BE49-F238E27FC236}">
                <a16:creationId xmlns:a16="http://schemas.microsoft.com/office/drawing/2014/main" id="{847BD6CB-39D9-4310-A748-9CEA90A6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24350"/>
            <a:ext cx="3019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8F2DE"/>
                </a:solidFill>
                <a:latin typeface="Nanum Gothic"/>
                <a:ea typeface="Nanum Gothic"/>
                <a:cs typeface="Nanum Gothic"/>
              </a:defRPr>
            </a:pPr>
            <a:r>
              <a:rPr sz="1875" b="1">
                <a:solidFill>
                  <a:srgbClr val="B8F2DE"/>
                </a:solidFill>
                <a:latin typeface="Nanum Gothic"/>
                <a:ea typeface="Nanum Gothic"/>
                <a:cs typeface="Nanum Gothic"/>
              </a:rPr>
              <a:t>₩266.0M</a:t>
            </a:r>
          </a:p>
        </p:txBody>
      </p:sp>
      <p:sp>
        <p:nvSpPr>
          <p:cNvPr id="13" name="rec-arr-label">
            <a:extLst xmlns:a="http://schemas.openxmlformats.org/drawingml/2006/main">
              <a:ext uri="{FF2B5EF4-FFF2-40B4-BE49-F238E27FC236}">
                <a16:creationId xmlns:a16="http://schemas.microsoft.com/office/drawing/2014/main" id="{32C04F1A-570C-4DF7-A70A-138D2980E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A8C4C7"/>
                </a:solidFill>
                <a:latin typeface="Nanum Gothic"/>
                <a:ea typeface="Nanum Gothic"/>
                <a:cs typeface="Nanum Gothic"/>
              </a:defRPr>
            </a:pPr>
            <a:r>
              <a:rPr sz="1200">
                <a:solidFill>
                  <a:srgbClr val="A8C4C7"/>
                </a:solidFill>
                <a:latin typeface="Nanum Gothic"/>
                <a:ea typeface="Nanum Gothic"/>
                <a:cs typeface="Nanum Gothic"/>
              </a:rPr>
              <a:t>기대 ARR / Base 순가치</a:t>
            </a:r>
          </a:p>
        </p:txBody>
      </p:sp>
      <p:sp>
        <p:nvSpPr>
          <p:cNvPr id="14" name="rec-arr">
            <a:extLst xmlns:a="http://schemas.openxmlformats.org/drawingml/2006/main">
              <a:ext uri="{FF2B5EF4-FFF2-40B4-BE49-F238E27FC236}">
                <a16:creationId xmlns:a16="http://schemas.microsoft.com/office/drawing/2014/main" id="{24EBAB61-E18B-4762-9821-6B68E0EC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67300"/>
            <a:ext cx="3019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8F0B8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A8F0B8"/>
                </a:solidFill>
                <a:latin typeface="Nanum Gothic"/>
                <a:ea typeface="Nanum Gothic"/>
                <a:cs typeface="Nanum Gothic"/>
              </a:rPr>
              <a:t>₩325.1M / ₩59.1M</a:t>
            </a:r>
          </a:p>
        </p:txBody>
      </p:sp>
      <p:sp>
        <p:nvSpPr>
          <p:cNvPr id="15" name="risks-block">
            <a:extLst xmlns:a="http://schemas.openxmlformats.org/drawingml/2006/main">
              <a:ext uri="{FF2B5EF4-FFF2-40B4-BE49-F238E27FC236}">
                <a16:creationId xmlns:a16="http://schemas.microsoft.com/office/drawing/2014/main" id="{BDE1B8ED-4AFF-4AE1-9397-119C42BD8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885950"/>
            <a:ext cx="3552825" cy="4095750"/>
          </a:xfrm>
          <a:prstGeom xmlns:a="http://schemas.openxmlformats.org/drawingml/2006/main" prst="roundRect">
            <a:avLst>
              <a:gd name="adj" fmla="val 3217"/>
            </a:avLst>
          </a:prstGeom>
          <a:solidFill xmlns:a="http://schemas.openxmlformats.org/drawingml/2006/main">
            <a:srgbClr val="113653"/>
          </a:solidFill>
          <a:ln xmlns:a="http://schemas.openxmlformats.org/drawingml/2006/main" w="9525">
            <a:solidFill>
              <a:srgbClr val="2B516B"/>
            </a:solidFill>
            <a:prstDash val="solid"/>
          </a:ln>
        </p:spPr>
      </p:sp>
      <p:sp>
        <p:nvSpPr>
          <p:cNvPr id="16" name="risks-title">
            <a:extLst xmlns:a="http://schemas.openxmlformats.org/drawingml/2006/main">
              <a:ext uri="{FF2B5EF4-FFF2-40B4-BE49-F238E27FC236}">
                <a16:creationId xmlns:a16="http://schemas.microsoft.com/office/drawing/2014/main" id="{492341E0-6B02-431F-9E23-DC5F45B7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133600"/>
            <a:ext cx="30194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2E7C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62E7C5"/>
                </a:solidFill>
                <a:latin typeface="Nanum Gothic"/>
                <a:ea typeface="Nanum Gothic"/>
                <a:cs typeface="Nanum Gothic"/>
              </a:rPr>
              <a:t>가장 큰 리스크 3개</a:t>
            </a:r>
          </a:p>
        </p:txBody>
      </p:sp>
      <p:sp>
        <p:nvSpPr>
          <p:cNvPr id="17" name="risk-num-1">
            <a:extLst xmlns:a="http://schemas.openxmlformats.org/drawingml/2006/main">
              <a:ext uri="{FF2B5EF4-FFF2-40B4-BE49-F238E27FC236}">
                <a16:creationId xmlns:a16="http://schemas.microsoft.com/office/drawing/2014/main" id="{8A128524-9B4E-4C13-AB51-75E0B713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819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9E8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FF9E8F"/>
                </a:solidFill>
                <a:latin typeface="Nanum Gothic"/>
                <a:ea typeface="Nanum Gothic"/>
                <a:cs typeface="Nanum Gothic"/>
              </a:rPr>
              <a:t>01</a:t>
            </a:r>
          </a:p>
        </p:txBody>
      </p:sp>
      <p:sp>
        <p:nvSpPr>
          <p:cNvPr id="18" name="risk-1">
            <a:extLst xmlns:a="http://schemas.openxmlformats.org/drawingml/2006/main">
              <a:ext uri="{FF2B5EF4-FFF2-40B4-BE49-F238E27FC236}">
                <a16:creationId xmlns:a16="http://schemas.microsoft.com/office/drawing/2014/main" id="{F21F944C-20ED-465F-B016-44FCF5662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800350"/>
            <a:ext cx="2524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F7FBFA"/>
                </a:solidFill>
                <a:latin typeface="Nanum Gothic"/>
                <a:ea typeface="Nanum Gothic"/>
                <a:cs typeface="Nanum Gothic"/>
              </a:defRPr>
            </a:pPr>
            <a:r>
              <a:rPr sz="1200">
                <a:solidFill>
                  <a:srgbClr val="F7FBFA"/>
                </a:solidFill>
                <a:latin typeface="Nanum Gothic"/>
                <a:ea typeface="Nanum Gothic"/>
                <a:cs typeface="Nanum Gothic"/>
              </a:rPr>
              <a:t>하방 동시 악화: ARR 0.8x · 성공확률 -15% · 비용 1.15x</a:t>
            </a:r>
          </a:p>
        </p:txBody>
      </p:sp>
      <p:sp>
        <p:nvSpPr>
          <p:cNvPr id="19" name="risk-rule-1">
            <a:extLst xmlns:a="http://schemas.openxmlformats.org/drawingml/2006/main">
              <a:ext uri="{FF2B5EF4-FFF2-40B4-BE49-F238E27FC236}">
                <a16:creationId xmlns:a16="http://schemas.microsoft.com/office/drawing/2014/main" id="{60BA0E81-6147-474C-B951-3C7C5E2E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486150"/>
            <a:ext cx="3019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16B"/>
          </a:solidFill>
          <a:ln xmlns:a="http://schemas.openxmlformats.org/drawingml/2006/main" w="0">
            <a:solidFill>
              <a:srgbClr val="2B516B"/>
            </a:solidFill>
            <a:prstDash val="solid"/>
          </a:ln>
        </p:spPr>
      </p:sp>
      <p:sp>
        <p:nvSpPr>
          <p:cNvPr id="20" name="risk-num-2">
            <a:extLst xmlns:a="http://schemas.openxmlformats.org/drawingml/2006/main">
              <a:ext uri="{FF2B5EF4-FFF2-40B4-BE49-F238E27FC236}">
                <a16:creationId xmlns:a16="http://schemas.microsoft.com/office/drawing/2014/main" id="{2F09DB62-62B0-49BF-97B6-A362F10B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6957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9E8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FF9E8F"/>
                </a:solidFill>
                <a:latin typeface="Nanum Gothic"/>
                <a:ea typeface="Nanum Gothic"/>
                <a:cs typeface="Nanum Gothic"/>
              </a:rPr>
              <a:t>02</a:t>
            </a:r>
          </a:p>
        </p:txBody>
      </p:sp>
      <p:sp>
        <p:nvSpPr>
          <p:cNvPr id="21" name="risk-2">
            <a:extLst xmlns:a="http://schemas.openxmlformats.org/drawingml/2006/main">
              <a:ext uri="{FF2B5EF4-FFF2-40B4-BE49-F238E27FC236}">
                <a16:creationId xmlns:a16="http://schemas.microsoft.com/office/drawing/2014/main" id="{32D625F2-B28D-4F1D-8A80-6F1E86AC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676650"/>
            <a:ext cx="2524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F7FBFA"/>
                </a:solidFill>
                <a:latin typeface="Nanum Gothic"/>
                <a:ea typeface="Nanum Gothic"/>
                <a:cs typeface="Nanum Gothic"/>
              </a:defRPr>
            </a:pPr>
            <a:r>
              <a:rPr sz="1200">
                <a:solidFill>
                  <a:srgbClr val="F7FBFA"/>
                </a:solidFill>
                <a:latin typeface="Nanum Gothic"/>
                <a:ea typeface="Nanum Gothic"/>
                <a:cs typeface="Nanum Gothic"/>
              </a:rPr>
              <a:t>음수 Base 순가치: 공급망 -₩33.0M · 마케팅 -₩13.4M · AI -₩4.8M</a:t>
            </a:r>
          </a:p>
        </p:txBody>
      </p:sp>
      <p:sp>
        <p:nvSpPr>
          <p:cNvPr id="22" name="risk-rule-2">
            <a:extLst xmlns:a="http://schemas.openxmlformats.org/drawingml/2006/main">
              <a:ext uri="{FF2B5EF4-FFF2-40B4-BE49-F238E27FC236}">
                <a16:creationId xmlns:a16="http://schemas.microsoft.com/office/drawing/2014/main" id="{54E4A917-C59E-401B-A936-BB5B6265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362450"/>
            <a:ext cx="3019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16B"/>
          </a:solidFill>
          <a:ln xmlns:a="http://schemas.openxmlformats.org/drawingml/2006/main" w="0">
            <a:solidFill>
              <a:srgbClr val="2B516B"/>
            </a:solidFill>
            <a:prstDash val="solid"/>
          </a:ln>
        </p:spPr>
      </p:sp>
      <p:sp>
        <p:nvSpPr>
          <p:cNvPr id="23" name="risk-num-3">
            <a:extLst xmlns:a="http://schemas.openxmlformats.org/drawingml/2006/main">
              <a:ext uri="{FF2B5EF4-FFF2-40B4-BE49-F238E27FC236}">
                <a16:creationId xmlns:a16="http://schemas.microsoft.com/office/drawing/2014/main" id="{0BF28BDD-94DE-4E74-ACE1-5A08A4859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5720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9E8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FF9E8F"/>
                </a:solidFill>
                <a:latin typeface="Nanum Gothic"/>
                <a:ea typeface="Nanum Gothic"/>
                <a:cs typeface="Nanum Gothic"/>
              </a:rPr>
              <a:t>03</a:t>
            </a:r>
          </a:p>
        </p:txBody>
      </p:sp>
      <p:sp>
        <p:nvSpPr>
          <p:cNvPr id="24" name="risk-3">
            <a:extLst xmlns:a="http://schemas.openxmlformats.org/drawingml/2006/main">
              <a:ext uri="{FF2B5EF4-FFF2-40B4-BE49-F238E27FC236}">
                <a16:creationId xmlns:a16="http://schemas.microsoft.com/office/drawing/2014/main" id="{F4665266-C6ED-4828-BCA4-8ADC9499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552950"/>
            <a:ext cx="2524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F7FBFA"/>
                </a:solidFill>
                <a:latin typeface="Nanum Gothic"/>
                <a:ea typeface="Nanum Gothic"/>
                <a:cs typeface="Nanum Gothic"/>
              </a:defRPr>
            </a:pPr>
            <a:r>
              <a:rPr sz="1200">
                <a:solidFill>
                  <a:srgbClr val="F7FBFA"/>
                </a:solidFill>
                <a:latin typeface="Nanum Gothic"/>
                <a:ea typeface="Nanum Gothic"/>
                <a:cs typeface="Nanum Gothic"/>
              </a:rPr>
              <a:t>리스크 점수 상위 하위안: 공급망 68 · 마케팅 60 · AI 55</a:t>
            </a:r>
          </a:p>
        </p:txBody>
      </p:sp>
      <p:sp>
        <p:nvSpPr>
          <p:cNvPr id="25" name="risk-stop">
            <a:extLst xmlns:a="http://schemas.openxmlformats.org/drawingml/2006/main">
              <a:ext uri="{FF2B5EF4-FFF2-40B4-BE49-F238E27FC236}">
                <a16:creationId xmlns:a16="http://schemas.microsoft.com/office/drawing/2014/main" id="{1055F58B-1802-4D73-BCA4-8A331ADA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5372100"/>
            <a:ext cx="3019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D37A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FFD37A"/>
                </a:solidFill>
                <a:latin typeface="Nanum Gothic"/>
                <a:ea typeface="Nanum Gothic"/>
                <a:cs typeface="Nanum Gothic"/>
              </a:rPr>
              <a:t>중단 공통 기준: Base 순가치가 0 이하가 되면 확장을 멈춥니다.</a:t>
            </a:r>
          </a:p>
        </p:txBody>
      </p:sp>
      <p:sp>
        <p:nvSpPr>
          <p:cNvPr id="26" name="gates-block">
            <a:extLst xmlns:a="http://schemas.openxmlformats.org/drawingml/2006/main">
              <a:ext uri="{FF2B5EF4-FFF2-40B4-BE49-F238E27FC236}">
                <a16:creationId xmlns:a16="http://schemas.microsoft.com/office/drawing/2014/main" id="{011E5813-9DCE-4792-A457-FB7DA5FC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85950"/>
            <a:ext cx="3552825" cy="4095750"/>
          </a:xfrm>
          <a:prstGeom xmlns:a="http://schemas.openxmlformats.org/drawingml/2006/main" prst="roundRect">
            <a:avLst>
              <a:gd name="adj" fmla="val 3217"/>
            </a:avLst>
          </a:prstGeom>
          <a:solidFill xmlns:a="http://schemas.openxmlformats.org/drawingml/2006/main">
            <a:srgbClr val="0D2A45"/>
          </a:solidFill>
          <a:ln xmlns:a="http://schemas.openxmlformats.org/drawingml/2006/main" w="9525">
            <a:solidFill>
              <a:srgbClr val="2B516B"/>
            </a:solidFill>
            <a:prstDash val="solid"/>
          </a:ln>
        </p:spPr>
      </p:sp>
      <p:sp>
        <p:nvSpPr>
          <p:cNvPr id="27" name="gates-title">
            <a:extLst xmlns:a="http://schemas.openxmlformats.org/drawingml/2006/main">
              <a:ext uri="{FF2B5EF4-FFF2-40B4-BE49-F238E27FC236}">
                <a16:creationId xmlns:a16="http://schemas.microsoft.com/office/drawing/2014/main" id="{0F44324C-B8F8-4B14-8D31-D52147EC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33600"/>
            <a:ext cx="30194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2E7C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62E7C5"/>
                </a:solidFill>
                <a:latin typeface="Nanum Gothic"/>
                <a:ea typeface="Nanum Gothic"/>
                <a:cs typeface="Nanum Gothic"/>
              </a:rPr>
              <a:t>30 / 60 / 90일 검증 게이트</a:t>
            </a:r>
          </a:p>
        </p:txBody>
      </p:sp>
      <p:sp>
        <p:nvSpPr>
          <p:cNvPr id="28" name="gate-when-1">
            <a:extLst xmlns:a="http://schemas.openxmlformats.org/drawingml/2006/main">
              <a:ext uri="{FF2B5EF4-FFF2-40B4-BE49-F238E27FC236}">
                <a16:creationId xmlns:a16="http://schemas.microsoft.com/office/drawing/2014/main" id="{F8148631-BF3D-41BE-B0D0-B799F130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003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8F2DE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B8F2DE"/>
                </a:solidFill>
                <a:latin typeface="Nanum Gothic"/>
                <a:ea typeface="Nanum Gothic"/>
                <a:cs typeface="Nanum Gothic"/>
              </a:rPr>
              <a:t>30일</a:t>
            </a:r>
          </a:p>
        </p:txBody>
      </p:sp>
      <p:sp>
        <p:nvSpPr>
          <p:cNvPr id="29" name="gate-main-1">
            <a:extLst xmlns:a="http://schemas.openxmlformats.org/drawingml/2006/main">
              <a:ext uri="{FF2B5EF4-FFF2-40B4-BE49-F238E27FC236}">
                <a16:creationId xmlns:a16="http://schemas.microsoft.com/office/drawing/2014/main" id="{284CF615-428B-4A6A-86C6-A49C1B3F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81300"/>
            <a:ext cx="2276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BFA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F7FBFA"/>
                </a:solidFill>
                <a:latin typeface="Nanum Gothic"/>
                <a:ea typeface="Nanum Gothic"/>
                <a:cs typeface="Nanum Gothic"/>
              </a:rPr>
              <a:t>상위 3개 수요·해결 적합성 검증</a:t>
            </a:r>
          </a:p>
        </p:txBody>
      </p:sp>
      <p:sp>
        <p:nvSpPr>
          <p:cNvPr id="30" name="gate-stop-1">
            <a:extLst xmlns:a="http://schemas.openxmlformats.org/drawingml/2006/main">
              <a:ext uri="{FF2B5EF4-FFF2-40B4-BE49-F238E27FC236}">
                <a16:creationId xmlns:a16="http://schemas.microsoft.com/office/drawing/2014/main" id="{14A2A939-1D93-4092-9E6F-E4EAB06F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24200"/>
            <a:ext cx="2276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A8C4C7"/>
                </a:solidFill>
                <a:latin typeface="Nanum Gothic"/>
                <a:ea typeface="Nanum Gothic"/>
                <a:cs typeface="Nanum Gothic"/>
              </a:defRPr>
            </a:pPr>
            <a:r>
              <a:rPr sz="1125">
                <a:solidFill>
                  <a:srgbClr val="A8C4C7"/>
                </a:solidFill>
                <a:latin typeface="Nanum Gothic"/>
                <a:ea typeface="Nanum Gothic"/>
                <a:cs typeface="Nanum Gothic"/>
              </a:rPr>
              <a:t>중단: 성공확률 가정을 유지할 근거가 없으면 확장 금지</a:t>
            </a:r>
          </a:p>
        </p:txBody>
      </p:sp>
      <p:sp>
        <p:nvSpPr>
          <p:cNvPr id="31" name="gate-rule-1">
            <a:extLst xmlns:a="http://schemas.openxmlformats.org/drawingml/2006/main">
              <a:ext uri="{FF2B5EF4-FFF2-40B4-BE49-F238E27FC236}">
                <a16:creationId xmlns:a16="http://schemas.microsoft.com/office/drawing/2014/main" id="{6ED1974A-4F00-451C-9302-5C229D45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562350"/>
            <a:ext cx="3019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16B"/>
          </a:solidFill>
          <a:ln xmlns:a="http://schemas.openxmlformats.org/drawingml/2006/main" w="0">
            <a:solidFill>
              <a:srgbClr val="2B516B"/>
            </a:solidFill>
            <a:prstDash val="solid"/>
          </a:ln>
        </p:spPr>
      </p:sp>
      <p:sp>
        <p:nvSpPr>
          <p:cNvPr id="32" name="gate-when-2">
            <a:extLst xmlns:a="http://schemas.openxmlformats.org/drawingml/2006/main">
              <a:ext uri="{FF2B5EF4-FFF2-40B4-BE49-F238E27FC236}">
                <a16:creationId xmlns:a16="http://schemas.microsoft.com/office/drawing/2014/main" id="{9670CCFF-E3A9-4E77-A891-A0B977EE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528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8F2DE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B8F2DE"/>
                </a:solidFill>
                <a:latin typeface="Nanum Gothic"/>
                <a:ea typeface="Nanum Gothic"/>
                <a:cs typeface="Nanum Gothic"/>
              </a:rPr>
              <a:t>60일</a:t>
            </a:r>
          </a:p>
        </p:txBody>
      </p:sp>
      <p:sp>
        <p:nvSpPr>
          <p:cNvPr id="33" name="gate-main-2">
            <a:extLst xmlns:a="http://schemas.openxmlformats.org/drawingml/2006/main">
              <a:ext uri="{FF2B5EF4-FFF2-40B4-BE49-F238E27FC236}">
                <a16:creationId xmlns:a16="http://schemas.microsoft.com/office/drawing/2014/main" id="{95445A99-1911-44A9-9D63-9ABCEF957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733800"/>
            <a:ext cx="2276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BFA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F7FBFA"/>
                </a:solidFill>
                <a:latin typeface="Nanum Gothic"/>
                <a:ea typeface="Nanum Gothic"/>
                <a:cs typeface="Nanum Gothic"/>
              </a:rPr>
              <a:t>원가·운영비와 Downside 노출 점검</a:t>
            </a:r>
          </a:p>
        </p:txBody>
      </p:sp>
      <p:sp>
        <p:nvSpPr>
          <p:cNvPr id="34" name="gate-stop-2">
            <a:extLst xmlns:a="http://schemas.openxmlformats.org/drawingml/2006/main">
              <a:ext uri="{FF2B5EF4-FFF2-40B4-BE49-F238E27FC236}">
                <a16:creationId xmlns:a16="http://schemas.microsoft.com/office/drawing/2014/main" id="{82999A2F-AF6B-4A23-8BFE-B9F8D808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076700"/>
            <a:ext cx="2276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A8C4C7"/>
                </a:solidFill>
                <a:latin typeface="Nanum Gothic"/>
                <a:ea typeface="Nanum Gothic"/>
                <a:cs typeface="Nanum Gothic"/>
              </a:defRPr>
            </a:pPr>
            <a:r>
              <a:rPr sz="1125">
                <a:solidFill>
                  <a:srgbClr val="A8C4C7"/>
                </a:solidFill>
                <a:latin typeface="Nanum Gothic"/>
                <a:ea typeface="Nanum Gothic"/>
                <a:cs typeface="Nanum Gothic"/>
              </a:rPr>
              <a:t>중단: 비용 추세가 1.15x 하방 가정을 넘으면 재설계</a:t>
            </a:r>
          </a:p>
        </p:txBody>
      </p:sp>
      <p:sp>
        <p:nvSpPr>
          <p:cNvPr id="35" name="gate-rule-2">
            <a:extLst xmlns:a="http://schemas.openxmlformats.org/drawingml/2006/main">
              <a:ext uri="{FF2B5EF4-FFF2-40B4-BE49-F238E27FC236}">
                <a16:creationId xmlns:a16="http://schemas.microsoft.com/office/drawing/2014/main" id="{BF5FFCE5-DA90-4A1D-B50F-4A85576D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514850"/>
            <a:ext cx="3019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16B"/>
          </a:solidFill>
          <a:ln xmlns:a="http://schemas.openxmlformats.org/drawingml/2006/main" w="0">
            <a:solidFill>
              <a:srgbClr val="2B516B"/>
            </a:solidFill>
            <a:prstDash val="solid"/>
          </a:ln>
        </p:spPr>
      </p:sp>
      <p:sp>
        <p:nvSpPr>
          <p:cNvPr id="36" name="gate-when-3">
            <a:extLst xmlns:a="http://schemas.openxmlformats.org/drawingml/2006/main">
              <a:ext uri="{FF2B5EF4-FFF2-40B4-BE49-F238E27FC236}">
                <a16:creationId xmlns:a16="http://schemas.microsoft.com/office/drawing/2014/main" id="{8EB17842-5208-44A5-B60D-EDE49C48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7053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8F2DE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B8F2DE"/>
                </a:solidFill>
                <a:latin typeface="Nanum Gothic"/>
                <a:ea typeface="Nanum Gothic"/>
                <a:cs typeface="Nanum Gothic"/>
              </a:rPr>
              <a:t>90일</a:t>
            </a:r>
          </a:p>
        </p:txBody>
      </p:sp>
      <p:sp>
        <p:nvSpPr>
          <p:cNvPr id="37" name="gate-main-3">
            <a:extLst xmlns:a="http://schemas.openxmlformats.org/drawingml/2006/main">
              <a:ext uri="{FF2B5EF4-FFF2-40B4-BE49-F238E27FC236}">
                <a16:creationId xmlns:a16="http://schemas.microsoft.com/office/drawing/2014/main" id="{1680A349-0D60-4F37-AF34-526A864D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686300"/>
            <a:ext cx="2276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BFA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F7FBFA"/>
                </a:solidFill>
                <a:latin typeface="Nanum Gothic"/>
                <a:ea typeface="Nanum Gothic"/>
                <a:cs typeface="Nanum Gothic"/>
              </a:rPr>
              <a:t>Portfolio 재랭킹 및 집행 조합 확정</a:t>
            </a:r>
          </a:p>
        </p:txBody>
      </p:sp>
      <p:sp>
        <p:nvSpPr>
          <p:cNvPr id="38" name="gate-stop-3">
            <a:extLst xmlns:a="http://schemas.openxmlformats.org/drawingml/2006/main">
              <a:ext uri="{FF2B5EF4-FFF2-40B4-BE49-F238E27FC236}">
                <a16:creationId xmlns:a16="http://schemas.microsoft.com/office/drawing/2014/main" id="{C5F099B1-15DB-46F4-919B-4D3DE903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029200"/>
            <a:ext cx="2276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A8C4C7"/>
                </a:solidFill>
                <a:latin typeface="Nanum Gothic"/>
                <a:ea typeface="Nanum Gothic"/>
                <a:cs typeface="Nanum Gothic"/>
              </a:defRPr>
            </a:pPr>
            <a:r>
              <a:rPr sz="1125">
                <a:solidFill>
                  <a:srgbClr val="A8C4C7"/>
                </a:solidFill>
                <a:latin typeface="Nanum Gothic"/>
                <a:ea typeface="Nanum Gothic"/>
                <a:cs typeface="Nanum Gothic"/>
              </a:rPr>
              <a:t>중단: Base 순가치 ≤ 0 또는 상위 3개 밖으로 이동</a:t>
            </a:r>
          </a:p>
        </p:txBody>
      </p:sp>
    </p:spTree>
    <p:extLst>
      <p:ext uri="{BB962C8B-B14F-4D97-AF65-F5344CB8AC3E}">
        <p14:creationId xmlns:p14="http://schemas.microsoft.com/office/powerpoint/2010/main" val="4194177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2026-08-09T03:03:44.2560000Z</dcterms:created>
  <dcterms:modified xsi:type="dcterms:W3CDTF">2026-08-09T03:03:44.2560000Z</dcterms:modified>
</coreProperties>
</file>