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066800"/>
            <a:ext cx="95250" cy="3714750"/>
          </a:xfrm>
          <a:prstGeom prst="rect">
            <a:avLst/>
          </a:prstGeom>
          <a:solidFill>
            <a:srgbClr val="55E6C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104900"/>
            <a:ext cx="4000500" cy="400050"/>
          </a:xfrm>
        </p:spPr>
        <p:txBody>
          <a:bodyPr wrap="square" rtlCol="0"/>
          <a:lstStyle/>
          <a:p>
            <a:r>
              <a:rPr sz="1700" b="1">
                <a:solidFill>
                  <a:srgbClr val="55E6C1"/>
                </a:solidFill>
              </a:rPr>
              <a:t>90-DAY EXECUTIVE PROPOSAL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800" y="1752600"/>
            <a:ext cx="8763000" cy="1428750"/>
          </a:xfrm>
        </p:spPr>
        <p:txBody>
          <a:bodyPr wrap="square" rtlCol="0"/>
          <a:lstStyle/>
          <a:p>
            <a:r>
              <a:rPr sz="4800" b="1">
                <a:solidFill>
                  <a:srgbClr val="FFFFFF"/>
                </a:solidFill>
              </a:rPr>
              <a:t>AI 업무 자동화</a:t>
            </a:r>
            <a:br/>
            <a:r>
              <a:rPr sz="4800" b="1">
                <a:solidFill>
                  <a:srgbClr val="FFFFFF"/>
                </a:solidFill>
              </a:rPr>
              <a:t>도입 계획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3524250"/>
            <a:ext cx="7239000" cy="685800"/>
          </a:xfrm>
        </p:spPr>
        <p:txBody>
          <a:bodyPr wrap="square" rtlCol="0"/>
          <a:lstStyle/>
          <a:p>
            <a:r>
              <a:rPr sz="2300">
                <a:solidFill>
                  <a:srgbClr val="B7C7D9"/>
                </a:solidFill>
              </a:rPr>
              <a:t>반복 업무를 줄이고, 핵심 업무에 시간을 돌려주는</a:t>
            </a:r>
            <a:br/>
            <a:r>
              <a:rPr sz="2300">
                <a:solidFill>
                  <a:srgbClr val="B7C7D9"/>
                </a:solidFill>
              </a:rPr>
              <a:t>90일 파일럿 제안</a:t>
            </a:r>
          </a:p>
        </p:txBody>
      </p:sp>
      <p:sp>
        <p:nvSpPr>
          <p:cNvPr id="6" name="Shape 6"/>
          <p:cNvSpPr/>
          <p:nvPr/>
        </p:nvSpPr>
        <p:spPr>
          <a:xfrm>
            <a:off x="9048750" y="4476750"/>
            <a:ext cx="2190750" cy="742950"/>
          </a:xfrm>
          <a:prstGeom prst="roundRect">
            <a:avLst/>
          </a:prstGeom>
          <a:solidFill>
            <a:srgbClr val="55E6C1"/>
          </a:solidFill>
        </p:spPr>
        <p:txBody>
          <a:bodyPr wrap="square" rtlCol="0"/>
          <a:lstStyle/>
          <a:p>
            <a:pPr algn="ctr"/>
            <a:r>
              <a:rPr sz="1900" b="1">
                <a:solidFill>
                  <a:srgbClr val="071A2E"/>
                </a:solidFill>
              </a:rPr>
              <a:t>GO / NO-GO</a:t>
            </a:r>
            <a:br/>
            <a:r>
              <a:rPr sz="1900" b="1">
                <a:solidFill>
                  <a:srgbClr val="071A2E"/>
                </a:solidFill>
              </a:rPr>
              <a:t>의사결정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514350"/>
            <a:ext cx="9906000" cy="666750"/>
          </a:xfrm>
        </p:spPr>
        <p:txBody>
          <a:bodyPr wrap="square" rtlCol="0"/>
          <a:lstStyle/>
          <a:p>
            <a:r>
              <a:rPr sz="3200" b="1">
                <a:solidFill>
                  <a:srgbClr val="FFFFFF"/>
                </a:solidFill>
              </a:rPr>
              <a:t>문제 | 사람이 시스템 사이를 메우고 있습니다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4850" y="1238250"/>
            <a:ext cx="8572500" cy="428625"/>
          </a:xfrm>
        </p:spPr>
        <p:txBody>
          <a:bodyPr wrap="square" rtlCol="0"/>
          <a:lstStyle/>
          <a:p>
            <a:r>
              <a:rPr sz="1900">
                <a:solidFill>
                  <a:srgbClr val="9FB1C5"/>
                </a:solidFill>
              </a:rPr>
              <a:t>자동화가 필요한 신호는 이미 일상 업무에 나타납니다.</a:t>
            </a:r>
          </a:p>
        </p:txBody>
      </p:sp>
      <p:sp>
        <p:nvSpPr>
          <p:cNvPr id="4" name="Shape 4"/>
          <p:cNvSpPr/>
          <p:nvPr/>
        </p:nvSpPr>
        <p:spPr>
          <a:xfrm>
            <a:off x="704850" y="2000250"/>
            <a:ext cx="3333750" cy="2952750"/>
          </a:xfrm>
          <a:prstGeom prst="roundRect">
            <a:avLst/>
          </a:prstGeom>
          <a:solidFill>
            <a:srgbClr val="102B44"/>
          </a:solidFill>
        </p:spPr>
        <p:txBody>
          <a:bodyPr wrap="square" rtlCol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01</a:t>
            </a:r>
            <a:br/>
            <a:br/>
            <a:r>
              <a:rPr sz="2200" b="1">
                <a:solidFill>
                  <a:srgbClr val="FFFFFF"/>
                </a:solidFill>
              </a:rPr>
              <a:t>반복 입력</a:t>
            </a:r>
            <a:br/>
            <a:br/>
            <a:r>
              <a:rPr sz="2200" b="1">
                <a:solidFill>
                  <a:srgbClr val="FFFFFF"/>
                </a:solidFill>
              </a:rPr>
              <a:t>메일·문서·시스템에</a:t>
            </a:r>
            <a:br/>
            <a:r>
              <a:rPr sz="2200" b="1">
                <a:solidFill>
                  <a:srgbClr val="FFFFFF"/>
                </a:solidFill>
              </a:rPr>
              <a:t>같은 정보를 재입력</a:t>
            </a:r>
          </a:p>
        </p:txBody>
      </p:sp>
      <p:sp>
        <p:nvSpPr>
          <p:cNvPr id="5" name="Shape 5"/>
          <p:cNvSpPr/>
          <p:nvPr/>
        </p:nvSpPr>
        <p:spPr>
          <a:xfrm>
            <a:off x="4429125" y="2000250"/>
            <a:ext cx="3333750" cy="2952750"/>
          </a:xfrm>
          <a:prstGeom prst="roundRect">
            <a:avLst/>
          </a:prstGeom>
          <a:solidFill>
            <a:srgbClr val="102B44"/>
          </a:solidFill>
        </p:spPr>
        <p:txBody>
          <a:bodyPr wrap="square" rtlCol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02</a:t>
            </a:r>
            <a:br/>
            <a:br/>
            <a:r>
              <a:rPr sz="2200" b="1">
                <a:solidFill>
                  <a:srgbClr val="FFFFFF"/>
                </a:solidFill>
              </a:rPr>
              <a:t>수작업 확인</a:t>
            </a:r>
            <a:br/>
            <a:br/>
            <a:r>
              <a:rPr sz="2200" b="1">
                <a:solidFill>
                  <a:srgbClr val="FFFFFF"/>
                </a:solidFill>
              </a:rPr>
              <a:t>누락과 오류를 찾는 데</a:t>
            </a:r>
            <a:br/>
            <a:r>
              <a:rPr sz="2200" b="1">
                <a:solidFill>
                  <a:srgbClr val="FFFFFF"/>
                </a:solidFill>
              </a:rPr>
              <a:t>숙련자의 시간이 소모</a:t>
            </a:r>
          </a:p>
        </p:txBody>
      </p:sp>
      <p:sp>
        <p:nvSpPr>
          <p:cNvPr id="6" name="Shape 6"/>
          <p:cNvSpPr/>
          <p:nvPr/>
        </p:nvSpPr>
        <p:spPr>
          <a:xfrm>
            <a:off x="8153400" y="2000250"/>
            <a:ext cx="3333750" cy="2952750"/>
          </a:xfrm>
          <a:prstGeom prst="roundRect">
            <a:avLst/>
          </a:prstGeom>
          <a:solidFill>
            <a:srgbClr val="55E6C1"/>
          </a:solidFill>
        </p:spPr>
        <p:txBody>
          <a:bodyPr wrap="square" rtlCol="0"/>
          <a:lstStyle/>
          <a:p>
            <a:pPr algn="ctr"/>
            <a:r>
              <a:rPr sz="2200" b="1">
                <a:solidFill>
                  <a:srgbClr val="071A2E"/>
                </a:solidFill>
              </a:rPr>
              <a:t>03</a:t>
            </a:r>
            <a:br/>
            <a:br/>
            <a:r>
              <a:rPr sz="2200" b="1">
                <a:solidFill>
                  <a:srgbClr val="071A2E"/>
                </a:solidFill>
              </a:rPr>
              <a:t>느린 처리</a:t>
            </a:r>
            <a:br/>
            <a:br/>
            <a:r>
              <a:rPr sz="2200" b="1">
                <a:solidFill>
                  <a:srgbClr val="071A2E"/>
                </a:solidFill>
              </a:rPr>
              <a:t>대기와 인수인계로</a:t>
            </a:r>
            <a:br/>
            <a:r>
              <a:rPr sz="2200" b="1">
                <a:solidFill>
                  <a:srgbClr val="071A2E"/>
                </a:solidFill>
              </a:rPr>
              <a:t>리드타임이 길어짐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4850" y="5524500"/>
            <a:ext cx="10763250" cy="514350"/>
          </a:xfrm>
        </p:spPr>
        <p:txBody>
          <a:bodyPr wrap="square" rtlCol="0"/>
          <a:lstStyle/>
          <a:p>
            <a:pPr algn="ctr"/>
            <a:r>
              <a:rPr sz="2200" b="1">
                <a:solidFill>
                  <a:srgbClr val="55E6C1"/>
                </a:solidFill>
              </a:rPr>
              <a:t>핵심 과제  →  단순 반복은 AI에, 판단과 책임은 사람에게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514350"/>
            <a:ext cx="9906000" cy="666750"/>
          </a:xfrm>
        </p:spPr>
        <p:txBody>
          <a:bodyPr wrap="square" rtlCol="0"/>
          <a:lstStyle/>
          <a:p>
            <a:r>
              <a:rPr sz="3200" b="1">
                <a:solidFill>
                  <a:srgbClr val="FFFFFF"/>
                </a:solidFill>
              </a:rPr>
              <a:t>해법 | 작게 시작하고, 통제하며 확장합니다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4850" y="1238250"/>
            <a:ext cx="8572500" cy="428625"/>
          </a:xfrm>
        </p:spPr>
        <p:txBody>
          <a:bodyPr wrap="square" rtlCol="0"/>
          <a:lstStyle/>
          <a:p>
            <a:r>
              <a:rPr sz="1900">
                <a:solidFill>
                  <a:srgbClr val="9FB1C5"/>
                </a:solidFill>
              </a:rPr>
              <a:t>업무 흐름 안에 AI를 배치하는 3단계 운영 모델</a:t>
            </a:r>
          </a:p>
        </p:txBody>
      </p:sp>
      <p:sp>
        <p:nvSpPr>
          <p:cNvPr id="4" name="Shape 4"/>
          <p:cNvSpPr/>
          <p:nvPr/>
        </p:nvSpPr>
        <p:spPr>
          <a:xfrm>
            <a:off x="704850" y="2000250"/>
            <a:ext cx="3333750" cy="2952750"/>
          </a:xfrm>
          <a:prstGeom prst="roundRect">
            <a:avLst/>
          </a:prstGeom>
          <a:solidFill>
            <a:srgbClr val="102B44"/>
          </a:solidFill>
          <a:ln>
            <a:noFill/>
          </a:ln>
        </p:spPr>
        <p:txBody>
          <a:bodyPr wrap="square" rtlCol="0"/>
          <a:lstStyle/>
          <a:p>
            <a:pPr algn="ctr"/>
            <a:r>
              <a:rPr sz="1600" b="1">
                <a:solidFill>
                  <a:srgbClr val="55E6C1"/>
                </a:solidFill>
              </a:rPr>
              <a:t>01  발견</a:t>
            </a:r>
          </a:p>
          <a:p>
            <a:pPr algn="ctr"/>
            <a:r>
              <a:rPr sz="2300" b="1">
                <a:solidFill>
                  <a:srgbClr val="FFFFFF"/>
                </a:solidFill>
              </a:rPr>
              <a:t>자동화 후보 선정</a:t>
            </a:r>
          </a:p>
          <a:p>
            <a:pPr algn="ctr"/>
            <a:r>
              <a:rPr sz="1700">
                <a:solidFill>
                  <a:srgbClr val="B7C7D9"/>
                </a:solidFill>
              </a:rPr>
              <a:t>반복량 · 규칙성 · 위험도로 우선순위를 정합니다</a:t>
            </a:r>
          </a:p>
        </p:txBody>
      </p:sp>
      <p:sp>
        <p:nvSpPr>
          <p:cNvPr id="5" name="Shape 5"/>
          <p:cNvSpPr/>
          <p:nvPr/>
        </p:nvSpPr>
        <p:spPr>
          <a:xfrm>
            <a:off x="4429125" y="2000250"/>
            <a:ext cx="3333750" cy="2952750"/>
          </a:xfrm>
          <a:prstGeom prst="roundRect">
            <a:avLst/>
          </a:prstGeom>
          <a:solidFill>
            <a:srgbClr val="55E6C1"/>
          </a:solidFill>
          <a:ln>
            <a:noFill/>
          </a:ln>
        </p:spPr>
        <p:txBody>
          <a:bodyPr wrap="square" rtlCol="0"/>
          <a:lstStyle/>
          <a:p>
            <a:pPr algn="ctr"/>
            <a:r>
              <a:rPr sz="1600" b="1">
                <a:solidFill>
                  <a:srgbClr val="071A2E"/>
                </a:solidFill>
              </a:rPr>
              <a:t>02  자동화</a:t>
            </a:r>
          </a:p>
          <a:p>
            <a:pPr algn="ctr"/>
            <a:r>
              <a:rPr sz="2300" b="1">
                <a:solidFill>
                  <a:srgbClr val="071A2E"/>
                </a:solidFill>
              </a:rPr>
              <a:t>업무 도구와 연결</a:t>
            </a:r>
          </a:p>
          <a:p>
            <a:pPr algn="ctr"/>
            <a:r>
              <a:rPr sz="1700">
                <a:solidFill>
                  <a:srgbClr val="17354D"/>
                </a:solidFill>
              </a:rPr>
              <a:t>요약 · 분류 · 초안 · 입력을 하나의 흐름으로 만듭니다</a:t>
            </a:r>
          </a:p>
        </p:txBody>
      </p:sp>
      <p:sp>
        <p:nvSpPr>
          <p:cNvPr id="6" name="Shape 6"/>
          <p:cNvSpPr/>
          <p:nvPr/>
        </p:nvSpPr>
        <p:spPr>
          <a:xfrm>
            <a:off x="8153400" y="2000250"/>
            <a:ext cx="3333750" cy="2952750"/>
          </a:xfrm>
          <a:prstGeom prst="roundRect">
            <a:avLst/>
          </a:prstGeom>
          <a:solidFill>
            <a:srgbClr val="102B44"/>
          </a:solidFill>
          <a:ln>
            <a:noFill/>
          </a:ln>
        </p:spPr>
        <p:txBody>
          <a:bodyPr wrap="square" rtlCol="0"/>
          <a:lstStyle/>
          <a:p>
            <a:pPr algn="ctr"/>
            <a:r>
              <a:rPr sz="1600" b="1">
                <a:solidFill>
                  <a:srgbClr val="55E6C1"/>
                </a:solidFill>
              </a:rPr>
              <a:t>03  통제</a:t>
            </a:r>
          </a:p>
          <a:p>
            <a:pPr algn="ctr"/>
            <a:r>
              <a:rPr sz="2300" b="1">
                <a:solidFill>
                  <a:srgbClr val="FFFFFF"/>
                </a:solidFill>
              </a:rPr>
              <a:t>사람이 최종 승인</a:t>
            </a:r>
          </a:p>
          <a:p>
            <a:pPr algn="ctr"/>
            <a:r>
              <a:rPr sz="1700">
                <a:solidFill>
                  <a:srgbClr val="B7C7D9"/>
                </a:solidFill>
              </a:rPr>
              <a:t>권한 · 로그 · 예외처리로 품질과 보안을 관리합니다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4850" y="5524500"/>
            <a:ext cx="10763250" cy="514350"/>
          </a:xfrm>
        </p:spPr>
        <p:txBody>
          <a:bodyPr wrap="square" rtlCol="0"/>
          <a:lstStyle/>
          <a:p>
            <a:pPr algn="ctr"/>
            <a:r>
              <a:rPr sz="2100" b="1">
                <a:solidFill>
                  <a:srgbClr val="55E6C1"/>
                </a:solidFill>
              </a:rPr>
              <a:t>운영 원칙  |  Human-in-the-loop · 최소 권한 · 측정 가능한 성과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514350"/>
            <a:ext cx="9906000" cy="666750"/>
          </a:xfrm>
        </p:spPr>
        <p:txBody>
          <a:bodyPr wrap="square" rtlCol="0"/>
          <a:lstStyle/>
          <a:p>
            <a:r>
              <a:rPr sz="3200" b="1">
                <a:solidFill>
                  <a:srgbClr val="FFFFFF"/>
                </a:solidFill>
              </a:rPr>
              <a:t>90일 실행계획 | 검증 가능한 파일럿부터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4850" y="1238250"/>
            <a:ext cx="8572500" cy="428625"/>
          </a:xfrm>
        </p:spPr>
        <p:txBody>
          <a:bodyPr wrap="square" rtlCol="0"/>
          <a:lstStyle/>
          <a:p>
            <a:r>
              <a:rPr sz="1900">
                <a:solidFill>
                  <a:srgbClr val="9FB1C5"/>
                </a:solidFill>
              </a:rPr>
              <a:t>30일 단위로 선정 → 실험 → 확장 결정을 진행합니다</a:t>
            </a:r>
          </a:p>
        </p:txBody>
      </p:sp>
      <p:sp>
        <p:nvSpPr>
          <p:cNvPr id="4" name="Shape 4"/>
          <p:cNvSpPr/>
          <p:nvPr/>
        </p:nvSpPr>
        <p:spPr>
          <a:xfrm>
            <a:off x="704850" y="2000250"/>
            <a:ext cx="3333750" cy="2952750"/>
          </a:xfrm>
          <a:prstGeom prst="roundRect">
            <a:avLst/>
          </a:prstGeom>
          <a:solidFill>
            <a:srgbClr val="102B44"/>
          </a:solidFill>
          <a:ln>
            <a:noFill/>
          </a:ln>
        </p:spPr>
        <p:txBody>
          <a:bodyPr wrap="square" rtlCol="0"/>
          <a:lstStyle/>
          <a:p>
            <a:pPr algn="ctr"/>
            <a:r>
              <a:rPr sz="1600" b="1">
                <a:solidFill>
                  <a:srgbClr val="55E6C1"/>
                </a:solidFill>
              </a:rPr>
              <a:t>DAY 1–30</a:t>
            </a:r>
          </a:p>
          <a:p>
            <a:pPr algn="ctr"/>
            <a:r>
              <a:rPr sz="2400" b="1">
                <a:solidFill>
                  <a:srgbClr val="FFFFFF"/>
                </a:solidFill>
              </a:rPr>
              <a:t>선정 · 설계</a:t>
            </a:r>
          </a:p>
          <a:p>
            <a:pPr algn="ctr"/>
            <a:r>
              <a:rPr sz="1700">
                <a:solidFill>
                  <a:srgbClr val="B7C7D9"/>
                </a:solidFill>
              </a:rPr>
              <a:t>후보 업무 진단 · 기준선 측정 · 보안 원칙 합의</a:t>
            </a:r>
          </a:p>
        </p:txBody>
      </p:sp>
      <p:sp>
        <p:nvSpPr>
          <p:cNvPr id="5" name="Shape 5"/>
          <p:cNvSpPr/>
          <p:nvPr/>
        </p:nvSpPr>
        <p:spPr>
          <a:xfrm>
            <a:off x="4429125" y="2000250"/>
            <a:ext cx="3333750" cy="2952750"/>
          </a:xfrm>
          <a:prstGeom prst="roundRect">
            <a:avLst/>
          </a:prstGeom>
          <a:solidFill>
            <a:srgbClr val="55E6C1"/>
          </a:solidFill>
          <a:ln>
            <a:noFill/>
          </a:ln>
        </p:spPr>
        <p:txBody>
          <a:bodyPr wrap="square" rtlCol="0"/>
          <a:lstStyle/>
          <a:p>
            <a:pPr algn="ctr"/>
            <a:r>
              <a:rPr sz="1600" b="1">
                <a:solidFill>
                  <a:srgbClr val="071A2E"/>
                </a:solidFill>
              </a:rPr>
              <a:t>DAY 31–60</a:t>
            </a:r>
          </a:p>
          <a:p>
            <a:pPr algn="ctr"/>
            <a:r>
              <a:rPr sz="2400" b="1">
                <a:solidFill>
                  <a:srgbClr val="071A2E"/>
                </a:solidFill>
              </a:rPr>
              <a:t>구축 · 실험</a:t>
            </a:r>
          </a:p>
          <a:p>
            <a:pPr algn="ctr"/>
            <a:r>
              <a:rPr sz="1700">
                <a:solidFill>
                  <a:srgbClr val="17354D"/>
                </a:solidFill>
              </a:rPr>
              <a:t>자동화 구현 · 소그룹 적용 · 예외 보완</a:t>
            </a:r>
          </a:p>
        </p:txBody>
      </p:sp>
      <p:sp>
        <p:nvSpPr>
          <p:cNvPr id="6" name="Shape 6"/>
          <p:cNvSpPr/>
          <p:nvPr/>
        </p:nvSpPr>
        <p:spPr>
          <a:xfrm>
            <a:off x="8153400" y="2000250"/>
            <a:ext cx="3333750" cy="2952750"/>
          </a:xfrm>
          <a:prstGeom prst="roundRect">
            <a:avLst/>
          </a:prstGeom>
          <a:solidFill>
            <a:srgbClr val="102B44"/>
          </a:solidFill>
          <a:ln>
            <a:noFill/>
          </a:ln>
        </p:spPr>
        <p:txBody>
          <a:bodyPr wrap="square" rtlCol="0"/>
          <a:lstStyle/>
          <a:p>
            <a:pPr algn="ctr"/>
            <a:r>
              <a:rPr sz="1600" b="1">
                <a:solidFill>
                  <a:srgbClr val="55E6C1"/>
                </a:solidFill>
              </a:rPr>
              <a:t>DAY 61–90</a:t>
            </a:r>
          </a:p>
          <a:p>
            <a:pPr algn="ctr"/>
            <a:r>
              <a:rPr sz="2400" b="1">
                <a:solidFill>
                  <a:srgbClr val="FFFFFF"/>
                </a:solidFill>
              </a:rPr>
              <a:t>검증 · 결정</a:t>
            </a:r>
          </a:p>
          <a:p>
            <a:pPr algn="ctr"/>
            <a:r>
              <a:rPr sz="1700">
                <a:solidFill>
                  <a:srgbClr val="B7C7D9"/>
                </a:solidFill>
              </a:rPr>
              <a:t>KPI 비교 · 운영 표준 확정 · 확장 여부 결정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4850" y="5524500"/>
            <a:ext cx="10763250" cy="514350"/>
          </a:xfrm>
        </p:spPr>
        <p:txBody>
          <a:bodyPr wrap="square" rtlCol="0"/>
          <a:lstStyle/>
          <a:p>
            <a:pPr algn="ctr"/>
            <a:r>
              <a:rPr sz="2100" b="1">
                <a:solidFill>
                  <a:srgbClr val="55E6C1"/>
                </a:solidFill>
              </a:rPr>
              <a:t>산출물  |  자동화 1–2개 · 운영 가이드 · 확장 판단 근거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514350"/>
            <a:ext cx="9906000" cy="666750"/>
          </a:xfrm>
        </p:spPr>
        <p:txBody>
          <a:bodyPr wrap="square" rtlCol="0"/>
          <a:lstStyle/>
          <a:p>
            <a:r>
              <a:rPr sz="3200" b="1">
                <a:solidFill>
                  <a:srgbClr val="FFFFFF"/>
                </a:solidFill>
              </a:rPr>
              <a:t>KPI | 시간·품질·채택으로 성공을 판단합니다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4850" y="1238250"/>
            <a:ext cx="8572500" cy="428625"/>
          </a:xfrm>
        </p:spPr>
        <p:txBody>
          <a:bodyPr wrap="square" rtlCol="0"/>
          <a:lstStyle/>
          <a:p>
            <a:r>
              <a:rPr sz="1900">
                <a:solidFill>
                  <a:srgbClr val="9FB1C5"/>
                </a:solidFill>
              </a:rPr>
              <a:t>목표치는 DAY 1–30의 기준선 측정 후 확정합니다</a:t>
            </a:r>
          </a:p>
        </p:txBody>
      </p:sp>
      <p:sp>
        <p:nvSpPr>
          <p:cNvPr id="4" name="Shape 4"/>
          <p:cNvSpPr/>
          <p:nvPr/>
        </p:nvSpPr>
        <p:spPr>
          <a:xfrm>
            <a:off x="704850" y="2000250"/>
            <a:ext cx="3333750" cy="2952750"/>
          </a:xfrm>
          <a:prstGeom prst="roundRect">
            <a:avLst/>
          </a:prstGeom>
          <a:solidFill>
            <a:srgbClr val="55E6C1"/>
          </a:solidFill>
          <a:ln>
            <a:noFill/>
          </a:ln>
        </p:spPr>
        <p:txBody>
          <a:bodyPr wrap="square" rtlCol="0"/>
          <a:lstStyle/>
          <a:p>
            <a:pPr algn="ctr"/>
            <a:r>
              <a:rPr sz="1600" b="1">
                <a:solidFill>
                  <a:srgbClr val="071A2E"/>
                </a:solidFill>
              </a:rPr>
              <a:t>TIME</a:t>
            </a:r>
          </a:p>
          <a:p>
            <a:pPr algn="ctr"/>
            <a:r>
              <a:rPr sz="2400" b="1">
                <a:solidFill>
                  <a:srgbClr val="071A2E"/>
                </a:solidFill>
              </a:rPr>
              <a:t>업무시간 절감률</a:t>
            </a:r>
          </a:p>
          <a:p>
            <a:pPr algn="ctr"/>
            <a:r>
              <a:rPr sz="1800">
                <a:solidFill>
                  <a:srgbClr val="17354D"/>
                </a:solidFill>
              </a:rPr>
              <a:t>자동화 전후 건당 처리시간 비교</a:t>
            </a:r>
          </a:p>
        </p:txBody>
      </p:sp>
      <p:sp>
        <p:nvSpPr>
          <p:cNvPr id="5" name="Shape 5"/>
          <p:cNvSpPr/>
          <p:nvPr/>
        </p:nvSpPr>
        <p:spPr>
          <a:xfrm>
            <a:off x="4429125" y="2000250"/>
            <a:ext cx="3333750" cy="2952750"/>
          </a:xfrm>
          <a:prstGeom prst="roundRect">
            <a:avLst/>
          </a:prstGeom>
          <a:solidFill>
            <a:srgbClr val="102B44"/>
          </a:solidFill>
          <a:ln>
            <a:noFill/>
          </a:ln>
        </p:spPr>
        <p:txBody>
          <a:bodyPr wrap="square" rtlCol="0"/>
          <a:lstStyle/>
          <a:p>
            <a:pPr algn="ctr"/>
            <a:r>
              <a:rPr sz="1600" b="1">
                <a:solidFill>
                  <a:srgbClr val="55E6C1"/>
                </a:solidFill>
              </a:rPr>
              <a:t>QUALITY</a:t>
            </a:r>
          </a:p>
          <a:p>
            <a:pPr algn="ctr"/>
            <a:r>
              <a:rPr sz="2400" b="1">
                <a:solidFill>
                  <a:srgbClr val="FFFFFF"/>
                </a:solidFill>
              </a:rPr>
              <a:t>오류 · 재작업률</a:t>
            </a:r>
          </a:p>
          <a:p>
            <a:pPr algn="ctr"/>
            <a:r>
              <a:rPr sz="1800">
                <a:solidFill>
                  <a:srgbClr val="B7C7D9"/>
                </a:solidFill>
              </a:rPr>
              <a:t>누락 · 수정 · 예외처리 발생 비율</a:t>
            </a:r>
          </a:p>
        </p:txBody>
      </p:sp>
      <p:sp>
        <p:nvSpPr>
          <p:cNvPr id="6" name="Shape 6"/>
          <p:cNvSpPr/>
          <p:nvPr/>
        </p:nvSpPr>
        <p:spPr>
          <a:xfrm>
            <a:off x="8153400" y="2000250"/>
            <a:ext cx="3333750" cy="2952750"/>
          </a:xfrm>
          <a:prstGeom prst="roundRect">
            <a:avLst/>
          </a:prstGeom>
          <a:solidFill>
            <a:srgbClr val="102B44"/>
          </a:solidFill>
          <a:ln>
            <a:noFill/>
          </a:ln>
        </p:spPr>
        <p:txBody>
          <a:bodyPr wrap="square" rtlCol="0"/>
          <a:lstStyle/>
          <a:p>
            <a:pPr algn="ctr"/>
            <a:r>
              <a:rPr sz="1600" b="1">
                <a:solidFill>
                  <a:srgbClr val="55E6C1"/>
                </a:solidFill>
              </a:rPr>
              <a:t>ADOPTION</a:t>
            </a:r>
          </a:p>
          <a:p>
            <a:pPr algn="ctr"/>
            <a:r>
              <a:rPr sz="2400" b="1">
                <a:solidFill>
                  <a:srgbClr val="FFFFFF"/>
                </a:solidFill>
              </a:rPr>
              <a:t>활성 사용률</a:t>
            </a:r>
          </a:p>
          <a:p>
            <a:pPr algn="ctr"/>
            <a:r>
              <a:rPr sz="1800">
                <a:solidFill>
                  <a:srgbClr val="B7C7D9"/>
                </a:solidFill>
              </a:rPr>
              <a:t>대상 사용자의 주간 실제 사용 비율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4850" y="5524500"/>
            <a:ext cx="10763250" cy="514350"/>
          </a:xfrm>
        </p:spPr>
        <p:txBody>
          <a:bodyPr wrap="square" rtlCol="0"/>
          <a:lstStyle/>
          <a:p>
            <a:pPr algn="ctr"/>
            <a:r>
              <a:rPr sz="2300" b="1">
                <a:solidFill>
                  <a:srgbClr val="55E6C1"/>
                </a:solidFill>
              </a:rPr>
              <a:t>90일 의사결정  →  확장 · 보완 · 중단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